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お時間をいただきありがとうございます。kintone向け類似図面検索サービスのモニター企業として、初回のご説明のお時間をいただきました。本日は課題感の共有から、機能デモ、データの取り扱い、導入の流れまで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5つの流れでご説明します。まず現状の課題と、私たちの解決アプローチをお話しし、その後実際の画面での機能紹介とデモを行います。続けてデータの取り扱いという重要なポイントを説明し、最後にモニター導入の具体的な流れをご相談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場でよく伺うお悩みが3つあります。過去図面を探すのに時間がかかること、類似実績の有無がベテラン社員の記憶に依存してしまっていること、そして見積の根拠になる類似品の実績原価にたどり着けないことです。これらはいずれも属人化・非効率の原因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たちのソリューションは、普段お使いのkintoneの図面台帳をそのままAI類似検索エンジンに変えるものです。詳細画面からの類似検索、アップロードによる即時検索、OCRによる自動入力、そして管理機能による一括登録の4つが柱です。次のスライドから一つずつご紹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面の詳細画面には「類似図面検索」ボタンがあり、押すと似た過去図面がスコア順に並びます。確度バッジで大まかな信頼度が分かり、図番一致や材質一致といった一致バッジで、何が根拠になっているかも確認できます。スコア内訳を見れば、なぜこの図面が似ていると判定されたかも把握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類似検索はkintoneに登録していない図面でも使えます。一覧画面の「類似検索（アップロード）」からPDFをドラッグ&amp;ドロップするだけで、その場で過去実績と照合できます。例えば取引先から見積依頼のPDFを受け取った際、登録せずにすぐ過去実績を確認し、見積の根拠として活用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面登録の際は、詳細画面の「図面を登録/更新」やアプリ一覧の「図面登録」からPDFをドロップすると、OCR解析が自動で始まります。図番・品名・材質・寸法・加工方法が自動入力されるため入力の手間が減り、既存値からのサジェストで表記ゆれも防げます。手動タグに加えてAIが形状タグも自動で付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管理メニューには3つの機能があります。インデックス状況チェックでは未登録や更新が必要なデータ、孤立したデータを検知しその場で修復できます。一括図面登録で既存レコードをまとめて検索対象にでき、過去図面アーカイブ取り込みではkintoneに未登録の過去図面もオプションで検索対象に加え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ここからは実際の画面でデモをご覧いただきます。類似検索、アップロード検索、OCR登録の順にご紹介します。実機での操作感を確認いただき、気になる点があればその場でご質問ください。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仕組みはシンプルです。kintoneに登録された図面台帳のデータを、クラウド上の類似検索AIが解析します。解析の観点は3つ、画像そのものの特徴、OCRで読み取った図番や品名などの文字情報、そして図面の外形形状です。この3つを組み合わせて総合スコアを算出し、検索結果として返します。専門的な内部処理の詳細は割愛しますが、複数の観点を組み合わせることで精度を高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の取り扱いはご不安を感じやすい点だと思いますので、丁寧にご説明します。図面PDFの原本は貴社のkintoneから一切動かしません。当方が保持するのは検索用の特徴データと抽出テキストのみです。企業ごとにデータは完全分離され、通信はすべて暗号化、kintoneのパスワードやAPIトークンも一切お預かり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当日は貴社側の作業として約30分を見込んでいます。プラグインの読み込みに5分、アプリのフィールド割り当てに10分、APIキー設定と接続テストに5分、既存図面の一括登録は件数によりますが10分程度からです。前提条件として、kintoneスタンダードコースと、図面PDFを添付した図面管理アプリをご用意いただ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ニター期間は3つのステップで進めます。まずStep1として100枚から300枚程度を登録し、2週間ほど検索結果の体感品質を評価いただきます。Step2でその気づきを共有いただき、私たちが改善点を整理します。Step3で評価を反映したチューニングを行い、全図面への展開に進みます。評価の観点としては、上位に欲しい図面が出てくるか、スコアに納得感があるか、業務のどの場面で役立ったかを重視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ビスは現在モニター段階のため、ご了承いただきたい点がいくつかあります。検索精度は図面の種類や作図スタイルに依存し、これはモニターを通じて一緒に改善していきたいと考えています。スコアはあくまで相対的な目安であること、検索対象はPDFの1ページ目であること、しばらく未使用の後の初回検索は起動に数十秒かかる場合があることもご留意ください。今後は過去図面アーカイブ検索の本格提供、精度チューニングの継続、管理機能の拡充を予定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ニターにあたり3点お願いがあります。実際の図面データでの品質評価、週次を目安とした定期的な気づきの共有、そして業務フローの中でどう使えそうかの発見です。ご不明点やお困りごとがあれば、サポート窓口までお気軽にご連絡ください。連絡先は別途ご案内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ありがとうございました。まずは100枚程度の図面登録から始めていただき、実際の検索体験を評価いただければと思います。ご不明点があればいつでもご連絡ください。今後ともよろしくお願い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77240" y="0"/>
            <a:ext cx="0" cy="6858000"/>
          </a:xfrm>
          <a:prstGeom prst="line">
            <a:avLst/>
          </a:prstGeom>
          <a:noFill/>
          <a:ln w="9525">
            <a:solidFill>
              <a:srgbClr val="2A3575"/>
            </a:solidFill>
            <a:prstDash val="solid"/>
          </a:ln>
        </p:spPr>
      </p:sp>
      <p:sp>
        <p:nvSpPr>
          <p:cNvPr id="3" name="Shape 1"/>
          <p:cNvSpPr/>
          <p:nvPr/>
        </p:nvSpPr>
        <p:spPr>
          <a:xfrm>
            <a:off x="1554480" y="0"/>
            <a:ext cx="0" cy="6858000"/>
          </a:xfrm>
          <a:prstGeom prst="line">
            <a:avLst/>
          </a:prstGeom>
          <a:noFill/>
          <a:ln w="9525">
            <a:solidFill>
              <a:srgbClr val="2A3575"/>
            </a:solidFill>
            <a:prstDash val="solid"/>
          </a:ln>
        </p:spPr>
      </p:sp>
      <p:sp>
        <p:nvSpPr>
          <p:cNvPr id="4" name="Shape 2"/>
          <p:cNvSpPr/>
          <p:nvPr/>
        </p:nvSpPr>
        <p:spPr>
          <a:xfrm>
            <a:off x="2331720" y="0"/>
            <a:ext cx="0" cy="6858000"/>
          </a:xfrm>
          <a:prstGeom prst="line">
            <a:avLst/>
          </a:prstGeom>
          <a:noFill/>
          <a:ln w="9525">
            <a:solidFill>
              <a:srgbClr val="2A3575"/>
            </a:solidFill>
            <a:prstDash val="solid"/>
          </a:ln>
        </p:spPr>
      </p:sp>
      <p:sp>
        <p:nvSpPr>
          <p:cNvPr id="5" name="Shape 3"/>
          <p:cNvSpPr/>
          <p:nvPr/>
        </p:nvSpPr>
        <p:spPr>
          <a:xfrm>
            <a:off x="3108960" y="0"/>
            <a:ext cx="0" cy="6858000"/>
          </a:xfrm>
          <a:prstGeom prst="line">
            <a:avLst/>
          </a:prstGeom>
          <a:noFill/>
          <a:ln w="9525">
            <a:solidFill>
              <a:srgbClr val="2A3575"/>
            </a:solidFill>
            <a:prstDash val="solid"/>
          </a:ln>
        </p:spPr>
      </p:sp>
      <p:sp>
        <p:nvSpPr>
          <p:cNvPr id="6" name="Shape 4"/>
          <p:cNvSpPr/>
          <p:nvPr/>
        </p:nvSpPr>
        <p:spPr>
          <a:xfrm>
            <a:off x="3886200" y="0"/>
            <a:ext cx="0" cy="6858000"/>
          </a:xfrm>
          <a:prstGeom prst="line">
            <a:avLst/>
          </a:prstGeom>
          <a:noFill/>
          <a:ln w="9525">
            <a:solidFill>
              <a:srgbClr val="2A3575"/>
            </a:solidFill>
            <a:prstDash val="solid"/>
          </a:ln>
        </p:spPr>
      </p:sp>
      <p:sp>
        <p:nvSpPr>
          <p:cNvPr id="7" name="Shape 5"/>
          <p:cNvSpPr/>
          <p:nvPr/>
        </p:nvSpPr>
        <p:spPr>
          <a:xfrm>
            <a:off x="4663440" y="0"/>
            <a:ext cx="0" cy="6858000"/>
          </a:xfrm>
          <a:prstGeom prst="line">
            <a:avLst/>
          </a:prstGeom>
          <a:noFill/>
          <a:ln w="9525">
            <a:solidFill>
              <a:srgbClr val="2A3575"/>
            </a:solidFill>
            <a:prstDash val="solid"/>
          </a:ln>
        </p:spPr>
      </p:sp>
      <p:sp>
        <p:nvSpPr>
          <p:cNvPr id="8" name="Shape 6"/>
          <p:cNvSpPr/>
          <p:nvPr/>
        </p:nvSpPr>
        <p:spPr>
          <a:xfrm>
            <a:off x="5440680" y="0"/>
            <a:ext cx="0" cy="6858000"/>
          </a:xfrm>
          <a:prstGeom prst="line">
            <a:avLst/>
          </a:prstGeom>
          <a:noFill/>
          <a:ln w="9525">
            <a:solidFill>
              <a:srgbClr val="2A3575"/>
            </a:solidFill>
            <a:prstDash val="solid"/>
          </a:ln>
        </p:spPr>
      </p:sp>
      <p:sp>
        <p:nvSpPr>
          <p:cNvPr id="9" name="Shape 7"/>
          <p:cNvSpPr/>
          <p:nvPr/>
        </p:nvSpPr>
        <p:spPr>
          <a:xfrm>
            <a:off x="6217920" y="0"/>
            <a:ext cx="0" cy="6858000"/>
          </a:xfrm>
          <a:prstGeom prst="line">
            <a:avLst/>
          </a:prstGeom>
          <a:noFill/>
          <a:ln w="9525">
            <a:solidFill>
              <a:srgbClr val="2A3575"/>
            </a:solidFill>
            <a:prstDash val="solid"/>
          </a:ln>
        </p:spPr>
      </p:sp>
      <p:sp>
        <p:nvSpPr>
          <p:cNvPr id="10" name="Shape 8"/>
          <p:cNvSpPr/>
          <p:nvPr/>
        </p:nvSpPr>
        <p:spPr>
          <a:xfrm>
            <a:off x="6995160" y="0"/>
            <a:ext cx="0" cy="6858000"/>
          </a:xfrm>
          <a:prstGeom prst="line">
            <a:avLst/>
          </a:prstGeom>
          <a:noFill/>
          <a:ln w="9525">
            <a:solidFill>
              <a:srgbClr val="2A3575"/>
            </a:solidFill>
            <a:prstDash val="solid"/>
          </a:ln>
        </p:spPr>
      </p:sp>
      <p:sp>
        <p:nvSpPr>
          <p:cNvPr id="11" name="Shape 9"/>
          <p:cNvSpPr/>
          <p:nvPr/>
        </p:nvSpPr>
        <p:spPr>
          <a:xfrm>
            <a:off x="7772400" y="0"/>
            <a:ext cx="0" cy="6858000"/>
          </a:xfrm>
          <a:prstGeom prst="line">
            <a:avLst/>
          </a:prstGeom>
          <a:noFill/>
          <a:ln w="9525">
            <a:solidFill>
              <a:srgbClr val="2A3575"/>
            </a:solidFill>
            <a:prstDash val="solid"/>
          </a:ln>
        </p:spPr>
      </p:sp>
      <p:sp>
        <p:nvSpPr>
          <p:cNvPr id="12" name="Shape 10"/>
          <p:cNvSpPr/>
          <p:nvPr/>
        </p:nvSpPr>
        <p:spPr>
          <a:xfrm>
            <a:off x="8549640" y="0"/>
            <a:ext cx="0" cy="6858000"/>
          </a:xfrm>
          <a:prstGeom prst="line">
            <a:avLst/>
          </a:prstGeom>
          <a:noFill/>
          <a:ln w="9525">
            <a:solidFill>
              <a:srgbClr val="2A3575"/>
            </a:solidFill>
            <a:prstDash val="solid"/>
          </a:ln>
        </p:spPr>
      </p:sp>
      <p:sp>
        <p:nvSpPr>
          <p:cNvPr id="13" name="Shape 11"/>
          <p:cNvSpPr/>
          <p:nvPr/>
        </p:nvSpPr>
        <p:spPr>
          <a:xfrm>
            <a:off x="9326880" y="0"/>
            <a:ext cx="0" cy="6858000"/>
          </a:xfrm>
          <a:prstGeom prst="line">
            <a:avLst/>
          </a:prstGeom>
          <a:noFill/>
          <a:ln w="9525">
            <a:solidFill>
              <a:srgbClr val="2A3575"/>
            </a:solidFill>
            <a:prstDash val="solid"/>
          </a:ln>
        </p:spPr>
      </p:sp>
      <p:sp>
        <p:nvSpPr>
          <p:cNvPr id="14" name="Shape 12"/>
          <p:cNvSpPr/>
          <p:nvPr/>
        </p:nvSpPr>
        <p:spPr>
          <a:xfrm>
            <a:off x="10104120" y="0"/>
            <a:ext cx="0" cy="6858000"/>
          </a:xfrm>
          <a:prstGeom prst="line">
            <a:avLst/>
          </a:prstGeom>
          <a:noFill/>
          <a:ln w="9525">
            <a:solidFill>
              <a:srgbClr val="2A3575"/>
            </a:solidFill>
            <a:prstDash val="solid"/>
          </a:ln>
        </p:spPr>
      </p:sp>
      <p:sp>
        <p:nvSpPr>
          <p:cNvPr id="15" name="Shape 13"/>
          <p:cNvSpPr/>
          <p:nvPr/>
        </p:nvSpPr>
        <p:spPr>
          <a:xfrm>
            <a:off x="10881360" y="0"/>
            <a:ext cx="0" cy="6858000"/>
          </a:xfrm>
          <a:prstGeom prst="line">
            <a:avLst/>
          </a:prstGeom>
          <a:noFill/>
          <a:ln w="9525">
            <a:solidFill>
              <a:srgbClr val="2A3575"/>
            </a:solidFill>
            <a:prstDash val="solid"/>
          </a:ln>
        </p:spPr>
      </p:sp>
      <p:sp>
        <p:nvSpPr>
          <p:cNvPr id="16" name="Shape 14"/>
          <p:cNvSpPr/>
          <p:nvPr/>
        </p:nvSpPr>
        <p:spPr>
          <a:xfrm>
            <a:off x="11658600" y="0"/>
            <a:ext cx="0" cy="6858000"/>
          </a:xfrm>
          <a:prstGeom prst="line">
            <a:avLst/>
          </a:prstGeom>
          <a:noFill/>
          <a:ln w="9525">
            <a:solidFill>
              <a:srgbClr val="2A3575"/>
            </a:solidFill>
            <a:prstDash val="solid"/>
          </a:ln>
        </p:spPr>
      </p:sp>
      <p:sp>
        <p:nvSpPr>
          <p:cNvPr id="17" name="Shape 15"/>
          <p:cNvSpPr/>
          <p:nvPr/>
        </p:nvSpPr>
        <p:spPr>
          <a:xfrm>
            <a:off x="0" y="777240"/>
            <a:ext cx="12188952" cy="0"/>
          </a:xfrm>
          <a:prstGeom prst="line">
            <a:avLst/>
          </a:prstGeom>
          <a:noFill/>
          <a:ln w="9525">
            <a:solidFill>
              <a:srgbClr val="2A3575"/>
            </a:solidFill>
            <a:prstDash val="solid"/>
          </a:ln>
        </p:spPr>
      </p:sp>
      <p:sp>
        <p:nvSpPr>
          <p:cNvPr id="18" name="Shape 16"/>
          <p:cNvSpPr/>
          <p:nvPr/>
        </p:nvSpPr>
        <p:spPr>
          <a:xfrm>
            <a:off x="0" y="1554480"/>
            <a:ext cx="12188952" cy="0"/>
          </a:xfrm>
          <a:prstGeom prst="line">
            <a:avLst/>
          </a:prstGeom>
          <a:noFill/>
          <a:ln w="9525">
            <a:solidFill>
              <a:srgbClr val="2A3575"/>
            </a:solidFill>
            <a:prstDash val="solid"/>
          </a:ln>
        </p:spPr>
      </p:sp>
      <p:sp>
        <p:nvSpPr>
          <p:cNvPr id="19" name="Shape 17"/>
          <p:cNvSpPr/>
          <p:nvPr/>
        </p:nvSpPr>
        <p:spPr>
          <a:xfrm>
            <a:off x="0" y="2331720"/>
            <a:ext cx="12188952" cy="0"/>
          </a:xfrm>
          <a:prstGeom prst="line">
            <a:avLst/>
          </a:prstGeom>
          <a:noFill/>
          <a:ln w="9525">
            <a:solidFill>
              <a:srgbClr val="2A3575"/>
            </a:solidFill>
            <a:prstDash val="solid"/>
          </a:ln>
        </p:spPr>
      </p:sp>
      <p:sp>
        <p:nvSpPr>
          <p:cNvPr id="20" name="Shape 18"/>
          <p:cNvSpPr/>
          <p:nvPr/>
        </p:nvSpPr>
        <p:spPr>
          <a:xfrm>
            <a:off x="0" y="3108960"/>
            <a:ext cx="12188952" cy="0"/>
          </a:xfrm>
          <a:prstGeom prst="line">
            <a:avLst/>
          </a:prstGeom>
          <a:noFill/>
          <a:ln w="9525">
            <a:solidFill>
              <a:srgbClr val="2A3575"/>
            </a:solidFill>
            <a:prstDash val="solid"/>
          </a:ln>
        </p:spPr>
      </p:sp>
      <p:sp>
        <p:nvSpPr>
          <p:cNvPr id="21" name="Shape 19"/>
          <p:cNvSpPr/>
          <p:nvPr/>
        </p:nvSpPr>
        <p:spPr>
          <a:xfrm>
            <a:off x="0" y="3886200"/>
            <a:ext cx="12188952" cy="0"/>
          </a:xfrm>
          <a:prstGeom prst="line">
            <a:avLst/>
          </a:prstGeom>
          <a:noFill/>
          <a:ln w="9525">
            <a:solidFill>
              <a:srgbClr val="2A3575"/>
            </a:solidFill>
            <a:prstDash val="solid"/>
          </a:ln>
        </p:spPr>
      </p:sp>
      <p:sp>
        <p:nvSpPr>
          <p:cNvPr id="22" name="Shape 20"/>
          <p:cNvSpPr/>
          <p:nvPr/>
        </p:nvSpPr>
        <p:spPr>
          <a:xfrm>
            <a:off x="0" y="4663440"/>
            <a:ext cx="12188952" cy="0"/>
          </a:xfrm>
          <a:prstGeom prst="line">
            <a:avLst/>
          </a:prstGeom>
          <a:noFill/>
          <a:ln w="9525">
            <a:solidFill>
              <a:srgbClr val="2A3575"/>
            </a:solidFill>
            <a:prstDash val="solid"/>
          </a:ln>
        </p:spPr>
      </p:sp>
      <p:sp>
        <p:nvSpPr>
          <p:cNvPr id="23" name="Shape 21"/>
          <p:cNvSpPr/>
          <p:nvPr/>
        </p:nvSpPr>
        <p:spPr>
          <a:xfrm>
            <a:off x="0" y="5440680"/>
            <a:ext cx="12188952" cy="0"/>
          </a:xfrm>
          <a:prstGeom prst="line">
            <a:avLst/>
          </a:prstGeom>
          <a:noFill/>
          <a:ln w="9525">
            <a:solidFill>
              <a:srgbClr val="2A3575"/>
            </a:solidFill>
            <a:prstDash val="solid"/>
          </a:ln>
        </p:spPr>
      </p:sp>
      <p:sp>
        <p:nvSpPr>
          <p:cNvPr id="24" name="Shape 22"/>
          <p:cNvSpPr/>
          <p:nvPr/>
        </p:nvSpPr>
        <p:spPr>
          <a:xfrm>
            <a:off x="0" y="6217920"/>
            <a:ext cx="12188952" cy="0"/>
          </a:xfrm>
          <a:prstGeom prst="line">
            <a:avLst/>
          </a:prstGeom>
          <a:noFill/>
          <a:ln w="9525">
            <a:solidFill>
              <a:srgbClr val="2A3575"/>
            </a:solidFill>
            <a:prstDash val="solid"/>
          </a:ln>
        </p:spPr>
      </p:sp>
      <p:sp>
        <p:nvSpPr>
          <p:cNvPr id="25" name="Shape 23"/>
          <p:cNvSpPr/>
          <p:nvPr/>
        </p:nvSpPr>
        <p:spPr>
          <a:xfrm>
            <a:off x="0" y="0"/>
            <a:ext cx="12188952" cy="6858000"/>
          </a:xfrm>
          <a:prstGeom prst="rect">
            <a:avLst/>
          </a:prstGeom>
          <a:solidFill>
            <a:srgbClr val="1E2761">
              <a:alpha val="72000"/>
            </a:srgbClr>
          </a:solidFill>
          <a:ln/>
        </p:spPr>
      </p:sp>
      <p:sp>
        <p:nvSpPr>
          <p:cNvPr id="26" name="Shape 24"/>
          <p:cNvSpPr/>
          <p:nvPr/>
        </p:nvSpPr>
        <p:spPr>
          <a:xfrm>
            <a:off x="822960" y="1417320"/>
            <a:ext cx="822960" cy="822960"/>
          </a:xfrm>
          <a:prstGeom prst="ellipse">
            <a:avLst/>
          </a:prstGeom>
          <a:solidFill>
            <a:srgbClr val="CADCFC"/>
          </a:solidFill>
          <a:ln/>
        </p:spPr>
      </p:sp>
      <p:pic>
        <p:nvPicPr>
          <p:cNvPr id="27" name="Image 0" descr="/tmp/claude-0/-home-user-plugbits-plugins/8ace6739-6c8b-5dc3-ad00-7f049c58d65c/scratchpad/icons/FiSearch_navy.png">    </p:cNvPr>
          <p:cNvPicPr>
            <a:picLocks noChangeAspect="1"/>
          </p:cNvPicPr>
          <p:nvPr/>
        </p:nvPicPr>
        <p:blipFill>
          <a:blip r:embed="rId1"/>
          <a:stretch>
            <a:fillRect/>
          </a:stretch>
        </p:blipFill>
        <p:spPr>
          <a:xfrm>
            <a:off x="1020470" y="1614830"/>
            <a:ext cx="427939" cy="427939"/>
          </a:xfrm>
          <a:prstGeom prst="rect">
            <a:avLst/>
          </a:prstGeom>
        </p:spPr>
      </p:pic>
      <p:sp>
        <p:nvSpPr>
          <p:cNvPr id="28" name="Text 25"/>
          <p:cNvSpPr/>
          <p:nvPr/>
        </p:nvSpPr>
        <p:spPr>
          <a:xfrm>
            <a:off x="777240" y="2514600"/>
            <a:ext cx="10607040" cy="1005840"/>
          </a:xfrm>
          <a:prstGeom prst="rect">
            <a:avLst/>
          </a:prstGeom>
          <a:noFill/>
          <a:ln/>
        </p:spPr>
        <p:txBody>
          <a:bodyPr wrap="square" lIns="0" tIns="0" rIns="0" bIns="0" rtlCol="0" anchor="ctr"/>
          <a:lstStyle/>
          <a:p>
            <a:pPr indent="0" marL="0">
              <a:buNone/>
            </a:pPr>
            <a:r>
              <a:rPr lang="en-US" sz="4200" b="1" dirty="0">
                <a:solidFill>
                  <a:srgbClr val="FFFFFF"/>
                </a:solidFill>
                <a:latin typeface="Yu Gothic" pitchFamily="34" charset="0"/>
                <a:ea typeface="Yu Gothic" pitchFamily="34" charset="-122"/>
                <a:cs typeface="Yu Gothic" pitchFamily="34" charset="-120"/>
              </a:rPr>
              <a:t>類似図面検索 for kintone</a:t>
            </a:r>
            <a:endParaRPr lang="en-US" sz="4200" dirty="0"/>
          </a:p>
        </p:txBody>
      </p:sp>
      <p:sp>
        <p:nvSpPr>
          <p:cNvPr id="29" name="Text 26"/>
          <p:cNvSpPr/>
          <p:nvPr/>
        </p:nvSpPr>
        <p:spPr>
          <a:xfrm>
            <a:off x="822960" y="3429000"/>
            <a:ext cx="10607040" cy="640080"/>
          </a:xfrm>
          <a:prstGeom prst="rect">
            <a:avLst/>
          </a:prstGeom>
          <a:noFill/>
          <a:ln/>
        </p:spPr>
        <p:txBody>
          <a:bodyPr wrap="square" lIns="0" tIns="0" rIns="0" bIns="0" rtlCol="0" anchor="ctr"/>
          <a:lstStyle/>
          <a:p>
            <a:pPr indent="0" marL="0">
              <a:buNone/>
            </a:pPr>
            <a:r>
              <a:rPr lang="en-US" sz="2000" dirty="0">
                <a:solidFill>
                  <a:srgbClr val="CADCFC"/>
                </a:solidFill>
                <a:latin typeface="Yu Gothic" pitchFamily="34" charset="0"/>
                <a:ea typeface="Yu Gothic" pitchFamily="34" charset="-122"/>
                <a:cs typeface="Yu Gothic" pitchFamily="34" charset="-120"/>
              </a:rPr>
              <a:t>モニター導入のご案内</a:t>
            </a:r>
            <a:endParaRPr lang="en-US" sz="2000" dirty="0"/>
          </a:p>
        </p:txBody>
      </p:sp>
      <p:sp>
        <p:nvSpPr>
          <p:cNvPr id="30" name="Shape 27"/>
          <p:cNvSpPr/>
          <p:nvPr/>
        </p:nvSpPr>
        <p:spPr>
          <a:xfrm>
            <a:off x="822960" y="5989320"/>
            <a:ext cx="2926080" cy="0"/>
          </a:xfrm>
          <a:prstGeom prst="line">
            <a:avLst/>
          </a:prstGeom>
          <a:noFill/>
          <a:ln w="12700">
            <a:solidFill>
              <a:srgbClr val="2A3575"/>
            </a:solidFill>
            <a:prstDash val="solid"/>
          </a:ln>
        </p:spPr>
      </p:sp>
      <p:sp>
        <p:nvSpPr>
          <p:cNvPr id="31" name="Text 28"/>
          <p:cNvSpPr/>
          <p:nvPr/>
        </p:nvSpPr>
        <p:spPr>
          <a:xfrm>
            <a:off x="822960" y="6108192"/>
            <a:ext cx="5486400" cy="365760"/>
          </a:xfrm>
          <a:prstGeom prst="rect">
            <a:avLst/>
          </a:prstGeom>
          <a:noFill/>
          <a:ln/>
        </p:spPr>
        <p:txBody>
          <a:bodyPr wrap="square" lIns="0" tIns="0" rIns="0" bIns="0" rtlCol="0" anchor="ctr"/>
          <a:lstStyle/>
          <a:p>
            <a:pPr indent="0" marL="0">
              <a:buNone/>
            </a:pPr>
            <a:r>
              <a:rPr lang="en-US" sz="1300" dirty="0">
                <a:solidFill>
                  <a:srgbClr val="CADCFC"/>
                </a:solidFill>
                <a:latin typeface="Yu Gothic" pitchFamily="34" charset="0"/>
                <a:ea typeface="Yu Gothic" pitchFamily="34" charset="-122"/>
                <a:cs typeface="Yu Gothic" pitchFamily="34" charset="-120"/>
              </a:rPr>
              <a:t>PlugBits ／ 2026年7月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本日の流れ</a:t>
            </a:r>
            <a:endParaRPr lang="en-US" sz="2900" dirty="0"/>
          </a:p>
        </p:txBody>
      </p:sp>
      <p:sp>
        <p:nvSpPr>
          <p:cNvPr id="3" name="Shape 1"/>
          <p:cNvSpPr/>
          <p:nvPr/>
        </p:nvSpPr>
        <p:spPr>
          <a:xfrm>
            <a:off x="822960" y="1737360"/>
            <a:ext cx="512064" cy="512064"/>
          </a:xfrm>
          <a:prstGeom prst="ellipse">
            <a:avLst/>
          </a:prstGeom>
          <a:solidFill>
            <a:srgbClr val="1E2761"/>
          </a:solidFill>
          <a:ln/>
        </p:spPr>
      </p:sp>
      <p:sp>
        <p:nvSpPr>
          <p:cNvPr id="4" name="Text 2"/>
          <p:cNvSpPr/>
          <p:nvPr/>
        </p:nvSpPr>
        <p:spPr>
          <a:xfrm>
            <a:off x="822960" y="17373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5" name="Text 3"/>
          <p:cNvSpPr/>
          <p:nvPr/>
        </p:nvSpPr>
        <p:spPr>
          <a:xfrm>
            <a:off x="1600200" y="1719072"/>
            <a:ext cx="8686800" cy="512064"/>
          </a:xfrm>
          <a:prstGeom prst="rect">
            <a:avLst/>
          </a:prstGeom>
          <a:noFill/>
          <a:ln/>
        </p:spPr>
        <p:txBody>
          <a:bodyPr wrap="square" lIns="0" tIns="0" rIns="0" bIns="0" rtlCol="0" anchor="ctr"/>
          <a:lstStyle/>
          <a:p>
            <a:pPr indent="0" marL="0">
              <a:buNone/>
            </a:pPr>
            <a:r>
              <a:rPr lang="en-US" sz="1600" b="1" dirty="0">
                <a:solidFill>
                  <a:srgbClr val="1A1F36"/>
                </a:solidFill>
                <a:latin typeface="Yu Gothic" pitchFamily="34" charset="0"/>
                <a:ea typeface="Yu Gothic" pitchFamily="34" charset="-122"/>
                <a:cs typeface="Yu Gothic" pitchFamily="34" charset="-120"/>
              </a:rPr>
              <a:t>課題と解決アプローチ</a:t>
            </a:r>
            <a:endParaRPr lang="en-US" sz="1600" dirty="0"/>
          </a:p>
        </p:txBody>
      </p:sp>
      <p:sp>
        <p:nvSpPr>
          <p:cNvPr id="6" name="Shape 4"/>
          <p:cNvSpPr/>
          <p:nvPr/>
        </p:nvSpPr>
        <p:spPr>
          <a:xfrm>
            <a:off x="1078992" y="2249424"/>
            <a:ext cx="0" cy="329184"/>
          </a:xfrm>
          <a:prstGeom prst="line">
            <a:avLst/>
          </a:prstGeom>
          <a:noFill/>
          <a:ln w="19050">
            <a:solidFill>
              <a:srgbClr val="CADCFC"/>
            </a:solidFill>
            <a:prstDash val="solid"/>
          </a:ln>
        </p:spPr>
      </p:sp>
      <p:sp>
        <p:nvSpPr>
          <p:cNvPr id="7" name="Shape 5"/>
          <p:cNvSpPr/>
          <p:nvPr/>
        </p:nvSpPr>
        <p:spPr>
          <a:xfrm>
            <a:off x="822960" y="2578608"/>
            <a:ext cx="512064" cy="512064"/>
          </a:xfrm>
          <a:prstGeom prst="ellipse">
            <a:avLst/>
          </a:prstGeom>
          <a:solidFill>
            <a:srgbClr val="1E2761"/>
          </a:solidFill>
          <a:ln/>
        </p:spPr>
      </p:sp>
      <p:sp>
        <p:nvSpPr>
          <p:cNvPr id="8" name="Text 6"/>
          <p:cNvSpPr/>
          <p:nvPr/>
        </p:nvSpPr>
        <p:spPr>
          <a:xfrm>
            <a:off x="822960" y="257860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9" name="Text 7"/>
          <p:cNvSpPr/>
          <p:nvPr/>
        </p:nvSpPr>
        <p:spPr>
          <a:xfrm>
            <a:off x="1600200" y="2560320"/>
            <a:ext cx="8686800" cy="512064"/>
          </a:xfrm>
          <a:prstGeom prst="rect">
            <a:avLst/>
          </a:prstGeom>
          <a:noFill/>
          <a:ln/>
        </p:spPr>
        <p:txBody>
          <a:bodyPr wrap="square" lIns="0" tIns="0" rIns="0" bIns="0" rtlCol="0" anchor="ctr"/>
          <a:lstStyle/>
          <a:p>
            <a:pPr indent="0" marL="0">
              <a:buNone/>
            </a:pPr>
            <a:r>
              <a:rPr lang="en-US" sz="1600" b="1" dirty="0">
                <a:solidFill>
                  <a:srgbClr val="1A1F36"/>
                </a:solidFill>
                <a:latin typeface="Yu Gothic" pitchFamily="34" charset="0"/>
                <a:ea typeface="Yu Gothic" pitchFamily="34" charset="-122"/>
                <a:cs typeface="Yu Gothic" pitchFamily="34" charset="-120"/>
              </a:rPr>
              <a:t>機能のご紹介・デモ</a:t>
            </a:r>
            <a:endParaRPr lang="en-US" sz="1600" dirty="0"/>
          </a:p>
        </p:txBody>
      </p:sp>
      <p:sp>
        <p:nvSpPr>
          <p:cNvPr id="10" name="Shape 8"/>
          <p:cNvSpPr/>
          <p:nvPr/>
        </p:nvSpPr>
        <p:spPr>
          <a:xfrm>
            <a:off x="1078992" y="3090672"/>
            <a:ext cx="0" cy="329184"/>
          </a:xfrm>
          <a:prstGeom prst="line">
            <a:avLst/>
          </a:prstGeom>
          <a:noFill/>
          <a:ln w="19050">
            <a:solidFill>
              <a:srgbClr val="CADCFC"/>
            </a:solidFill>
            <a:prstDash val="solid"/>
          </a:ln>
        </p:spPr>
      </p:sp>
      <p:sp>
        <p:nvSpPr>
          <p:cNvPr id="11" name="Shape 9"/>
          <p:cNvSpPr/>
          <p:nvPr/>
        </p:nvSpPr>
        <p:spPr>
          <a:xfrm>
            <a:off x="822960" y="3419856"/>
            <a:ext cx="512064" cy="512064"/>
          </a:xfrm>
          <a:prstGeom prst="ellipse">
            <a:avLst/>
          </a:prstGeom>
          <a:solidFill>
            <a:srgbClr val="1E2761"/>
          </a:solidFill>
          <a:ln/>
        </p:spPr>
      </p:sp>
      <p:sp>
        <p:nvSpPr>
          <p:cNvPr id="12" name="Text 10"/>
          <p:cNvSpPr/>
          <p:nvPr/>
        </p:nvSpPr>
        <p:spPr>
          <a:xfrm>
            <a:off x="822960" y="341985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3" name="Text 11"/>
          <p:cNvSpPr/>
          <p:nvPr/>
        </p:nvSpPr>
        <p:spPr>
          <a:xfrm>
            <a:off x="1600200" y="3401568"/>
            <a:ext cx="8686800" cy="512064"/>
          </a:xfrm>
          <a:prstGeom prst="rect">
            <a:avLst/>
          </a:prstGeom>
          <a:noFill/>
          <a:ln/>
        </p:spPr>
        <p:txBody>
          <a:bodyPr wrap="square" lIns="0" tIns="0" rIns="0" bIns="0" rtlCol="0" anchor="ctr"/>
          <a:lstStyle/>
          <a:p>
            <a:pPr indent="0" marL="0">
              <a:buNone/>
            </a:pPr>
            <a:r>
              <a:rPr lang="en-US" sz="1600" b="1" dirty="0">
                <a:solidFill>
                  <a:srgbClr val="1A1F36"/>
                </a:solidFill>
                <a:latin typeface="Yu Gothic" pitchFamily="34" charset="0"/>
                <a:ea typeface="Yu Gothic" pitchFamily="34" charset="-122"/>
                <a:cs typeface="Yu Gothic" pitchFamily="34" charset="-120"/>
              </a:rPr>
              <a:t>データの取り扱い</a:t>
            </a:r>
            <a:endParaRPr lang="en-US" sz="1600" dirty="0"/>
          </a:p>
        </p:txBody>
      </p:sp>
      <p:sp>
        <p:nvSpPr>
          <p:cNvPr id="14" name="Shape 12"/>
          <p:cNvSpPr/>
          <p:nvPr/>
        </p:nvSpPr>
        <p:spPr>
          <a:xfrm>
            <a:off x="1078992" y="3931920"/>
            <a:ext cx="0" cy="329184"/>
          </a:xfrm>
          <a:prstGeom prst="line">
            <a:avLst/>
          </a:prstGeom>
          <a:noFill/>
          <a:ln w="19050">
            <a:solidFill>
              <a:srgbClr val="CADCFC"/>
            </a:solidFill>
            <a:prstDash val="solid"/>
          </a:ln>
        </p:spPr>
      </p:sp>
      <p:sp>
        <p:nvSpPr>
          <p:cNvPr id="15" name="Shape 13"/>
          <p:cNvSpPr/>
          <p:nvPr/>
        </p:nvSpPr>
        <p:spPr>
          <a:xfrm>
            <a:off x="822960" y="4261104"/>
            <a:ext cx="512064" cy="512064"/>
          </a:xfrm>
          <a:prstGeom prst="ellipse">
            <a:avLst/>
          </a:prstGeom>
          <a:solidFill>
            <a:srgbClr val="1E2761"/>
          </a:solidFill>
          <a:ln/>
        </p:spPr>
      </p:sp>
      <p:sp>
        <p:nvSpPr>
          <p:cNvPr id="16" name="Text 14"/>
          <p:cNvSpPr/>
          <p:nvPr/>
        </p:nvSpPr>
        <p:spPr>
          <a:xfrm>
            <a:off x="822960" y="426110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7" name="Text 15"/>
          <p:cNvSpPr/>
          <p:nvPr/>
        </p:nvSpPr>
        <p:spPr>
          <a:xfrm>
            <a:off x="1600200" y="4242816"/>
            <a:ext cx="8686800" cy="512064"/>
          </a:xfrm>
          <a:prstGeom prst="rect">
            <a:avLst/>
          </a:prstGeom>
          <a:noFill/>
          <a:ln/>
        </p:spPr>
        <p:txBody>
          <a:bodyPr wrap="square" lIns="0" tIns="0" rIns="0" bIns="0" rtlCol="0" anchor="ctr"/>
          <a:lstStyle/>
          <a:p>
            <a:pPr indent="0" marL="0">
              <a:buNone/>
            </a:pPr>
            <a:r>
              <a:rPr lang="en-US" sz="1600" b="1" dirty="0">
                <a:solidFill>
                  <a:srgbClr val="1A1F36"/>
                </a:solidFill>
                <a:latin typeface="Yu Gothic" pitchFamily="34" charset="0"/>
                <a:ea typeface="Yu Gothic" pitchFamily="34" charset="-122"/>
                <a:cs typeface="Yu Gothic" pitchFamily="34" charset="-120"/>
              </a:rPr>
              <a:t>モニター導入の流れ</a:t>
            </a:r>
            <a:endParaRPr lang="en-US" sz="1600" dirty="0"/>
          </a:p>
        </p:txBody>
      </p:sp>
      <p:sp>
        <p:nvSpPr>
          <p:cNvPr id="18" name="Shape 16"/>
          <p:cNvSpPr/>
          <p:nvPr/>
        </p:nvSpPr>
        <p:spPr>
          <a:xfrm>
            <a:off x="1078992" y="4773168"/>
            <a:ext cx="0" cy="329184"/>
          </a:xfrm>
          <a:prstGeom prst="line">
            <a:avLst/>
          </a:prstGeom>
          <a:noFill/>
          <a:ln w="19050">
            <a:solidFill>
              <a:srgbClr val="CADCFC"/>
            </a:solidFill>
            <a:prstDash val="solid"/>
          </a:ln>
        </p:spPr>
      </p:sp>
      <p:sp>
        <p:nvSpPr>
          <p:cNvPr id="19" name="Shape 17"/>
          <p:cNvSpPr/>
          <p:nvPr/>
        </p:nvSpPr>
        <p:spPr>
          <a:xfrm>
            <a:off x="822960" y="5102352"/>
            <a:ext cx="512064" cy="512064"/>
          </a:xfrm>
          <a:prstGeom prst="ellipse">
            <a:avLst/>
          </a:prstGeom>
          <a:solidFill>
            <a:srgbClr val="1E2761"/>
          </a:solidFill>
          <a:ln/>
        </p:spPr>
      </p:sp>
      <p:sp>
        <p:nvSpPr>
          <p:cNvPr id="20" name="Text 18"/>
          <p:cNvSpPr/>
          <p:nvPr/>
        </p:nvSpPr>
        <p:spPr>
          <a:xfrm>
            <a:off x="822960" y="510235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1" name="Text 19"/>
          <p:cNvSpPr/>
          <p:nvPr/>
        </p:nvSpPr>
        <p:spPr>
          <a:xfrm>
            <a:off x="1600200" y="5084064"/>
            <a:ext cx="8686800" cy="512064"/>
          </a:xfrm>
          <a:prstGeom prst="rect">
            <a:avLst/>
          </a:prstGeom>
          <a:noFill/>
          <a:ln/>
        </p:spPr>
        <p:txBody>
          <a:bodyPr wrap="square" lIns="0" tIns="0" rIns="0" bIns="0" rtlCol="0" anchor="ctr"/>
          <a:lstStyle/>
          <a:p>
            <a:pPr indent="0" marL="0">
              <a:buNone/>
            </a:pPr>
            <a:r>
              <a:rPr lang="en-US" sz="1600" b="1" dirty="0">
                <a:solidFill>
                  <a:srgbClr val="1A1F36"/>
                </a:solidFill>
                <a:latin typeface="Yu Gothic" pitchFamily="34" charset="0"/>
                <a:ea typeface="Yu Gothic" pitchFamily="34" charset="-122"/>
                <a:cs typeface="Yu Gothic" pitchFamily="34" charset="-120"/>
              </a:rPr>
              <a:t>進め方のご相談</a:t>
            </a:r>
            <a:endParaRPr lang="en-US" sz="1600" dirty="0"/>
          </a:p>
        </p:txBody>
      </p:sp>
      <p:sp>
        <p:nvSpPr>
          <p:cNvPr id="22" name="Text 20"/>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600" b="1" dirty="0">
                <a:solidFill>
                  <a:srgbClr val="1E2761"/>
                </a:solidFill>
                <a:latin typeface="Yu Gothic" pitchFamily="34" charset="0"/>
                <a:ea typeface="Yu Gothic" pitchFamily="34" charset="-122"/>
                <a:cs typeface="Yu Gothic" pitchFamily="34" charset="-120"/>
              </a:rPr>
              <a:t>「この図面、前にも作ったはず」が見つからない</a:t>
            </a:r>
            <a:endParaRPr lang="en-US" sz="2600" dirty="0"/>
          </a:p>
        </p:txBody>
      </p:sp>
      <p:sp>
        <p:nvSpPr>
          <p:cNvPr id="3" name="Shape 1"/>
          <p:cNvSpPr/>
          <p:nvPr/>
        </p:nvSpPr>
        <p:spPr>
          <a:xfrm>
            <a:off x="548640" y="1920240"/>
            <a:ext cx="3429000" cy="3383280"/>
          </a:xfrm>
          <a:prstGeom prst="roundRect">
            <a:avLst>
              <a:gd name="adj" fmla="val 2703"/>
            </a:avLst>
          </a:prstGeom>
          <a:solidFill>
            <a:srgbClr val="F4F7FC"/>
          </a:solidFill>
          <a:ln/>
          <a:effectLst>
            <a:outerShdw sx="100000" sy="100000" kx="0" ky="0" algn="bl" rotWithShape="0" blurRad="101600" dist="25400" dir="5400000">
              <a:srgbClr val="1E2761">
                <a:alpha val="12000"/>
              </a:srgbClr>
            </a:outerShdw>
          </a:effectLst>
        </p:spPr>
      </p:sp>
      <p:sp>
        <p:nvSpPr>
          <p:cNvPr id="4" name="Shape 2"/>
          <p:cNvSpPr/>
          <p:nvPr/>
        </p:nvSpPr>
        <p:spPr>
          <a:xfrm>
            <a:off x="804672" y="2157984"/>
            <a:ext cx="512064" cy="512064"/>
          </a:xfrm>
          <a:prstGeom prst="ellipse">
            <a:avLst/>
          </a:prstGeom>
          <a:solidFill>
            <a:srgbClr val="1E2761"/>
          </a:solidFill>
          <a:ln/>
        </p:spPr>
      </p:sp>
      <p:pic>
        <p:nvPicPr>
          <p:cNvPr id="5" name="Image 0" descr="/tmp/claude-0/-home-user-plugbits-plugins/8ace6739-6c8b-5dc3-ad00-7f049c58d65c/scratchpad/icons/FiClock_white.png">    </p:cNvPr>
          <p:cNvPicPr>
            <a:picLocks noChangeAspect="1"/>
          </p:cNvPicPr>
          <p:nvPr/>
        </p:nvPicPr>
        <p:blipFill>
          <a:blip r:embed="rId1"/>
          <a:stretch>
            <a:fillRect/>
          </a:stretch>
        </p:blipFill>
        <p:spPr>
          <a:xfrm>
            <a:off x="919886" y="2273198"/>
            <a:ext cx="281635" cy="281635"/>
          </a:xfrm>
          <a:prstGeom prst="rect">
            <a:avLst/>
          </a:prstGeom>
        </p:spPr>
      </p:pic>
      <p:sp>
        <p:nvSpPr>
          <p:cNvPr id="6" name="Text 3"/>
          <p:cNvSpPr/>
          <p:nvPr/>
        </p:nvSpPr>
        <p:spPr>
          <a:xfrm>
            <a:off x="804672" y="2779776"/>
            <a:ext cx="2916936" cy="320040"/>
          </a:xfrm>
          <a:prstGeom prst="rect">
            <a:avLst/>
          </a:prstGeom>
          <a:noFill/>
          <a:ln/>
        </p:spPr>
        <p:txBody>
          <a:bodyPr wrap="square" lIns="0" tIns="0" rIns="0" bIns="0" rtlCol="0" anchor="ctr"/>
          <a:lstStyle/>
          <a:p>
            <a:pPr indent="0" marL="0">
              <a:buNone/>
            </a:pPr>
            <a:r>
              <a:rPr lang="en-US" sz="1600" b="1" dirty="0">
                <a:solidFill>
                  <a:srgbClr val="1E2761"/>
                </a:solidFill>
                <a:latin typeface="Yu Gothic" pitchFamily="34" charset="0"/>
                <a:ea typeface="Yu Gothic" pitchFamily="34" charset="-122"/>
                <a:cs typeface="Yu Gothic" pitchFamily="34" charset="-120"/>
              </a:rPr>
              <a:t>探す時間のロス</a:t>
            </a:r>
            <a:endParaRPr lang="en-US" sz="1600" dirty="0"/>
          </a:p>
        </p:txBody>
      </p:sp>
      <p:sp>
        <p:nvSpPr>
          <p:cNvPr id="7" name="Text 4"/>
          <p:cNvSpPr/>
          <p:nvPr/>
        </p:nvSpPr>
        <p:spPr>
          <a:xfrm>
            <a:off x="804672" y="3127248"/>
            <a:ext cx="2916936" cy="1993392"/>
          </a:xfrm>
          <a:prstGeom prst="rect">
            <a:avLst/>
          </a:prstGeom>
          <a:noFill/>
          <a:ln/>
        </p:spPr>
        <p:txBody>
          <a:bodyPr wrap="square" lIns="0" tIns="0" rIns="0" bIns="0" rtlCol="0" anchor="t"/>
          <a:lstStyle/>
          <a:p>
            <a:pPr indent="0" marL="0">
              <a:lnSpc>
                <a:spcPct val="118000"/>
              </a:lnSpc>
              <a:buNone/>
            </a:pPr>
            <a:r>
              <a:rPr lang="en-US" sz="1300" dirty="0">
                <a:solidFill>
                  <a:srgbClr val="1A1F36"/>
                </a:solidFill>
                <a:latin typeface="Yu Gothic" pitchFamily="34" charset="0"/>
                <a:ea typeface="Yu Gothic" pitchFamily="34" charset="-122"/>
                <a:cs typeface="Yu Gothic" pitchFamily="34" charset="-120"/>
              </a:rPr>
              <a:t>過去図面をフォルダやファイル名の記憶を頼りに探し、都度時間が失われる</a:t>
            </a:r>
            <a:endParaRPr lang="en-US" sz="1300" dirty="0"/>
          </a:p>
        </p:txBody>
      </p:sp>
      <p:sp>
        <p:nvSpPr>
          <p:cNvPr id="8" name="Shape 5"/>
          <p:cNvSpPr/>
          <p:nvPr/>
        </p:nvSpPr>
        <p:spPr>
          <a:xfrm>
            <a:off x="4270248" y="1920240"/>
            <a:ext cx="3429000" cy="3383280"/>
          </a:xfrm>
          <a:prstGeom prst="roundRect">
            <a:avLst>
              <a:gd name="adj" fmla="val 2703"/>
            </a:avLst>
          </a:prstGeom>
          <a:solidFill>
            <a:srgbClr val="F4F7FC"/>
          </a:solidFill>
          <a:ln/>
          <a:effectLst>
            <a:outerShdw sx="100000" sy="100000" kx="0" ky="0" algn="bl" rotWithShape="0" blurRad="101600" dist="25400" dir="5400000">
              <a:srgbClr val="1E2761">
                <a:alpha val="12000"/>
              </a:srgbClr>
            </a:outerShdw>
          </a:effectLst>
        </p:spPr>
      </p:sp>
      <p:sp>
        <p:nvSpPr>
          <p:cNvPr id="9" name="Shape 6"/>
          <p:cNvSpPr/>
          <p:nvPr/>
        </p:nvSpPr>
        <p:spPr>
          <a:xfrm>
            <a:off x="4526280" y="2157984"/>
            <a:ext cx="512064" cy="512064"/>
          </a:xfrm>
          <a:prstGeom prst="ellipse">
            <a:avLst/>
          </a:prstGeom>
          <a:solidFill>
            <a:srgbClr val="1E2761"/>
          </a:solidFill>
          <a:ln/>
        </p:spPr>
      </p:sp>
      <p:pic>
        <p:nvPicPr>
          <p:cNvPr id="10" name="Image 1" descr="/tmp/claude-0/-home-user-plugbits-plugins/8ace6739-6c8b-5dc3-ad00-7f049c58d65c/scratchpad/icons/FiUser_white.png">    </p:cNvPr>
          <p:cNvPicPr>
            <a:picLocks noChangeAspect="1"/>
          </p:cNvPicPr>
          <p:nvPr/>
        </p:nvPicPr>
        <p:blipFill>
          <a:blip r:embed="rId2"/>
          <a:stretch>
            <a:fillRect/>
          </a:stretch>
        </p:blipFill>
        <p:spPr>
          <a:xfrm>
            <a:off x="4641494" y="2273198"/>
            <a:ext cx="281635" cy="281635"/>
          </a:xfrm>
          <a:prstGeom prst="rect">
            <a:avLst/>
          </a:prstGeom>
        </p:spPr>
      </p:pic>
      <p:sp>
        <p:nvSpPr>
          <p:cNvPr id="11" name="Text 7"/>
          <p:cNvSpPr/>
          <p:nvPr/>
        </p:nvSpPr>
        <p:spPr>
          <a:xfrm>
            <a:off x="4526280" y="2779776"/>
            <a:ext cx="2916936" cy="320040"/>
          </a:xfrm>
          <a:prstGeom prst="rect">
            <a:avLst/>
          </a:prstGeom>
          <a:noFill/>
          <a:ln/>
        </p:spPr>
        <p:txBody>
          <a:bodyPr wrap="square" lIns="0" tIns="0" rIns="0" bIns="0" rtlCol="0" anchor="ctr"/>
          <a:lstStyle/>
          <a:p>
            <a:pPr indent="0" marL="0">
              <a:buNone/>
            </a:pPr>
            <a:r>
              <a:rPr lang="en-US" sz="1600" b="1" dirty="0">
                <a:solidFill>
                  <a:srgbClr val="1E2761"/>
                </a:solidFill>
                <a:latin typeface="Yu Gothic" pitchFamily="34" charset="0"/>
                <a:ea typeface="Yu Gothic" pitchFamily="34" charset="-122"/>
                <a:cs typeface="Yu Gothic" pitchFamily="34" charset="-120"/>
              </a:rPr>
              <a:t>ベテランの記憶頼み</a:t>
            </a:r>
            <a:endParaRPr lang="en-US" sz="1600" dirty="0"/>
          </a:p>
        </p:txBody>
      </p:sp>
      <p:sp>
        <p:nvSpPr>
          <p:cNvPr id="12" name="Text 8"/>
          <p:cNvSpPr/>
          <p:nvPr/>
        </p:nvSpPr>
        <p:spPr>
          <a:xfrm>
            <a:off x="4526280" y="3127248"/>
            <a:ext cx="2916936" cy="1993392"/>
          </a:xfrm>
          <a:prstGeom prst="rect">
            <a:avLst/>
          </a:prstGeom>
          <a:noFill/>
          <a:ln/>
        </p:spPr>
        <p:txBody>
          <a:bodyPr wrap="square" lIns="0" tIns="0" rIns="0" bIns="0" rtlCol="0" anchor="t"/>
          <a:lstStyle/>
          <a:p>
            <a:pPr indent="0" marL="0">
              <a:lnSpc>
                <a:spcPct val="118000"/>
              </a:lnSpc>
              <a:buNone/>
            </a:pPr>
            <a:r>
              <a:rPr lang="en-US" sz="1300" dirty="0">
                <a:solidFill>
                  <a:srgbClr val="1A1F36"/>
                </a:solidFill>
                <a:latin typeface="Yu Gothic" pitchFamily="34" charset="0"/>
                <a:ea typeface="Yu Gothic" pitchFamily="34" charset="-122"/>
                <a:cs typeface="Yu Gothic" pitchFamily="34" charset="-120"/>
              </a:rPr>
              <a:t>類似実績の有無が特定の人の記憶に依存し、属人化する</a:t>
            </a:r>
            <a:endParaRPr lang="en-US" sz="1300" dirty="0"/>
          </a:p>
        </p:txBody>
      </p:sp>
      <p:sp>
        <p:nvSpPr>
          <p:cNvPr id="13" name="Shape 9"/>
          <p:cNvSpPr/>
          <p:nvPr/>
        </p:nvSpPr>
        <p:spPr>
          <a:xfrm>
            <a:off x="7991856" y="1920240"/>
            <a:ext cx="3429000" cy="3383280"/>
          </a:xfrm>
          <a:prstGeom prst="roundRect">
            <a:avLst>
              <a:gd name="adj" fmla="val 2703"/>
            </a:avLst>
          </a:prstGeom>
          <a:solidFill>
            <a:srgbClr val="F4F7FC"/>
          </a:solidFill>
          <a:ln/>
          <a:effectLst>
            <a:outerShdw sx="100000" sy="100000" kx="0" ky="0" algn="bl" rotWithShape="0" blurRad="101600" dist="25400" dir="5400000">
              <a:srgbClr val="1E2761">
                <a:alpha val="12000"/>
              </a:srgbClr>
            </a:outerShdw>
          </a:effectLst>
        </p:spPr>
      </p:sp>
      <p:sp>
        <p:nvSpPr>
          <p:cNvPr id="14" name="Shape 10"/>
          <p:cNvSpPr/>
          <p:nvPr/>
        </p:nvSpPr>
        <p:spPr>
          <a:xfrm>
            <a:off x="8247888" y="2157984"/>
            <a:ext cx="512064" cy="512064"/>
          </a:xfrm>
          <a:prstGeom prst="ellipse">
            <a:avLst/>
          </a:prstGeom>
          <a:solidFill>
            <a:srgbClr val="1E2761"/>
          </a:solidFill>
          <a:ln/>
        </p:spPr>
      </p:sp>
      <p:pic>
        <p:nvPicPr>
          <p:cNvPr id="15" name="Image 2" descr="/tmp/claude-0/-home-user-plugbits-plugins/8ace6739-6c8b-5dc3-ad00-7f049c58d65c/scratchpad/icons/FiFileText_white.png">    </p:cNvPr>
          <p:cNvPicPr>
            <a:picLocks noChangeAspect="1"/>
          </p:cNvPicPr>
          <p:nvPr/>
        </p:nvPicPr>
        <p:blipFill>
          <a:blip r:embed="rId3"/>
          <a:stretch>
            <a:fillRect/>
          </a:stretch>
        </p:blipFill>
        <p:spPr>
          <a:xfrm>
            <a:off x="8363102" y="2273198"/>
            <a:ext cx="281635" cy="281635"/>
          </a:xfrm>
          <a:prstGeom prst="rect">
            <a:avLst/>
          </a:prstGeom>
        </p:spPr>
      </p:pic>
      <p:sp>
        <p:nvSpPr>
          <p:cNvPr id="16" name="Text 11"/>
          <p:cNvSpPr/>
          <p:nvPr/>
        </p:nvSpPr>
        <p:spPr>
          <a:xfrm>
            <a:off x="8247888" y="2779776"/>
            <a:ext cx="2916936" cy="320040"/>
          </a:xfrm>
          <a:prstGeom prst="rect">
            <a:avLst/>
          </a:prstGeom>
          <a:noFill/>
          <a:ln/>
        </p:spPr>
        <p:txBody>
          <a:bodyPr wrap="square" lIns="0" tIns="0" rIns="0" bIns="0" rtlCol="0" anchor="ctr"/>
          <a:lstStyle/>
          <a:p>
            <a:pPr indent="0" marL="0">
              <a:buNone/>
            </a:pPr>
            <a:r>
              <a:rPr lang="en-US" sz="1600" b="1" dirty="0">
                <a:solidFill>
                  <a:srgbClr val="1E2761"/>
                </a:solidFill>
                <a:latin typeface="Yu Gothic" pitchFamily="34" charset="0"/>
                <a:ea typeface="Yu Gothic" pitchFamily="34" charset="-122"/>
                <a:cs typeface="Yu Gothic" pitchFamily="34" charset="-120"/>
              </a:rPr>
              <a:t>見積根拠が散逸</a:t>
            </a:r>
            <a:endParaRPr lang="en-US" sz="1600" dirty="0"/>
          </a:p>
        </p:txBody>
      </p:sp>
      <p:sp>
        <p:nvSpPr>
          <p:cNvPr id="17" name="Text 12"/>
          <p:cNvSpPr/>
          <p:nvPr/>
        </p:nvSpPr>
        <p:spPr>
          <a:xfrm>
            <a:off x="8247888" y="3127248"/>
            <a:ext cx="2916936" cy="1993392"/>
          </a:xfrm>
          <a:prstGeom prst="rect">
            <a:avLst/>
          </a:prstGeom>
          <a:noFill/>
          <a:ln/>
        </p:spPr>
        <p:txBody>
          <a:bodyPr wrap="square" lIns="0" tIns="0" rIns="0" bIns="0" rtlCol="0" anchor="t"/>
          <a:lstStyle/>
          <a:p>
            <a:pPr indent="0" marL="0">
              <a:lnSpc>
                <a:spcPct val="118000"/>
              </a:lnSpc>
              <a:buNone/>
            </a:pPr>
            <a:r>
              <a:rPr lang="en-US" sz="1300" dirty="0">
                <a:solidFill>
                  <a:srgbClr val="1A1F36"/>
                </a:solidFill>
                <a:latin typeface="Yu Gothic" pitchFamily="34" charset="0"/>
                <a:ea typeface="Yu Gothic" pitchFamily="34" charset="-122"/>
                <a:cs typeface="Yu Gothic" pitchFamily="34" charset="-120"/>
              </a:rPr>
              <a:t>類似品の実績原価・加工方法にたどり着けず、見積のたびにゼロから検討</a:t>
            </a:r>
            <a:endParaRPr lang="en-US" sz="1300" dirty="0"/>
          </a:p>
        </p:txBody>
      </p:sp>
      <p:sp>
        <p:nvSpPr>
          <p:cNvPr id="18" name="Text 1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500" b="1" dirty="0">
                <a:solidFill>
                  <a:srgbClr val="1E2761"/>
                </a:solidFill>
                <a:latin typeface="Yu Gothic" pitchFamily="34" charset="0"/>
                <a:ea typeface="Yu Gothic" pitchFamily="34" charset="-122"/>
                <a:cs typeface="Yu Gothic" pitchFamily="34" charset="-120"/>
              </a:rPr>
              <a:t>kintoneの図面台帳が、AI類似検索エンジンになる</a:t>
            </a:r>
            <a:endParaRPr lang="en-US" sz="2500" dirty="0"/>
          </a:p>
        </p:txBody>
      </p:sp>
      <p:sp>
        <p:nvSpPr>
          <p:cNvPr id="3" name="Shape 1"/>
          <p:cNvSpPr/>
          <p:nvPr/>
        </p:nvSpPr>
        <p:spPr>
          <a:xfrm>
            <a:off x="548640" y="1920240"/>
            <a:ext cx="2615184" cy="3383280"/>
          </a:xfrm>
          <a:prstGeom prst="roundRect">
            <a:avLst>
              <a:gd name="adj" fmla="val 3497"/>
            </a:avLst>
          </a:prstGeom>
          <a:solidFill>
            <a:srgbClr val="F4F7FC"/>
          </a:solidFill>
          <a:ln/>
          <a:effectLst>
            <a:outerShdw sx="100000" sy="100000" kx="0" ky="0" algn="bl" rotWithShape="0" blurRad="101600" dist="25400" dir="5400000">
              <a:srgbClr val="1E2761">
                <a:alpha val="12000"/>
              </a:srgbClr>
            </a:outerShdw>
          </a:effectLst>
        </p:spPr>
      </p:sp>
      <p:sp>
        <p:nvSpPr>
          <p:cNvPr id="4" name="Shape 2"/>
          <p:cNvSpPr/>
          <p:nvPr/>
        </p:nvSpPr>
        <p:spPr>
          <a:xfrm>
            <a:off x="804672" y="2157984"/>
            <a:ext cx="512064" cy="512064"/>
          </a:xfrm>
          <a:prstGeom prst="ellipse">
            <a:avLst/>
          </a:prstGeom>
          <a:solidFill>
            <a:srgbClr val="1E2761"/>
          </a:solidFill>
          <a:ln/>
        </p:spPr>
      </p:sp>
      <p:pic>
        <p:nvPicPr>
          <p:cNvPr id="5" name="Image 0" descr="/tmp/claude-0/-home-user-plugbits-plugins/8ace6739-6c8b-5dc3-ad00-7f049c58d65c/scratchpad/icons/FiSearch_white.png">    </p:cNvPr>
          <p:cNvPicPr>
            <a:picLocks noChangeAspect="1"/>
          </p:cNvPicPr>
          <p:nvPr/>
        </p:nvPicPr>
        <p:blipFill>
          <a:blip r:embed="rId1"/>
          <a:stretch>
            <a:fillRect/>
          </a:stretch>
        </p:blipFill>
        <p:spPr>
          <a:xfrm>
            <a:off x="919886" y="2273198"/>
            <a:ext cx="281635" cy="281635"/>
          </a:xfrm>
          <a:prstGeom prst="rect">
            <a:avLst/>
          </a:prstGeom>
        </p:spPr>
      </p:pic>
      <p:sp>
        <p:nvSpPr>
          <p:cNvPr id="6" name="Text 3"/>
          <p:cNvSpPr/>
          <p:nvPr/>
        </p:nvSpPr>
        <p:spPr>
          <a:xfrm>
            <a:off x="804672" y="2779776"/>
            <a:ext cx="2103120" cy="320040"/>
          </a:xfrm>
          <a:prstGeom prst="rect">
            <a:avLst/>
          </a:prstGeom>
          <a:noFill/>
          <a:ln/>
        </p:spPr>
        <p:txBody>
          <a:bodyPr wrap="square" lIns="0" tIns="0" rIns="0" bIns="0" rtlCol="0" anchor="ctr"/>
          <a:lstStyle/>
          <a:p>
            <a:pPr indent="0" marL="0">
              <a:buNone/>
            </a:pPr>
            <a:r>
              <a:rPr lang="en-US" sz="1400" b="1" dirty="0">
                <a:solidFill>
                  <a:srgbClr val="1E2761"/>
                </a:solidFill>
                <a:latin typeface="Yu Gothic" pitchFamily="34" charset="0"/>
                <a:ea typeface="Yu Gothic" pitchFamily="34" charset="-122"/>
                <a:cs typeface="Yu Gothic" pitchFamily="34" charset="-120"/>
              </a:rPr>
              <a:t>類似図面検索</a:t>
            </a:r>
            <a:endParaRPr lang="en-US" sz="1400" dirty="0"/>
          </a:p>
        </p:txBody>
      </p:sp>
      <p:sp>
        <p:nvSpPr>
          <p:cNvPr id="7" name="Text 4"/>
          <p:cNvSpPr/>
          <p:nvPr/>
        </p:nvSpPr>
        <p:spPr>
          <a:xfrm>
            <a:off x="804672" y="3127248"/>
            <a:ext cx="2103120" cy="1993392"/>
          </a:xfrm>
          <a:prstGeom prst="rect">
            <a:avLst/>
          </a:prstGeom>
          <a:noFill/>
          <a:ln/>
        </p:spPr>
        <p:txBody>
          <a:bodyPr wrap="square" lIns="0" tIns="0" rIns="0" bIns="0" rtlCol="0" anchor="t"/>
          <a:lstStyle/>
          <a:p>
            <a:pPr indent="0" marL="0">
              <a:lnSpc>
                <a:spcPct val="118000"/>
              </a:lnSpc>
              <a:buNone/>
            </a:pPr>
            <a:r>
              <a:rPr lang="en-US" sz="1150" dirty="0">
                <a:solidFill>
                  <a:srgbClr val="1A1F36"/>
                </a:solidFill>
                <a:latin typeface="Yu Gothic" pitchFamily="34" charset="0"/>
                <a:ea typeface="Yu Gothic" pitchFamily="34" charset="-122"/>
                <a:cs typeface="Yu Gothic" pitchFamily="34" charset="-120"/>
              </a:rPr>
              <a:t>開いているレコードの図面に似た過去図面を瞬時に一覧表示</a:t>
            </a:r>
            <a:endParaRPr lang="en-US" sz="1150" dirty="0"/>
          </a:p>
        </p:txBody>
      </p:sp>
      <p:sp>
        <p:nvSpPr>
          <p:cNvPr id="8" name="Shape 5"/>
          <p:cNvSpPr/>
          <p:nvPr/>
        </p:nvSpPr>
        <p:spPr>
          <a:xfrm>
            <a:off x="3383280" y="1920240"/>
            <a:ext cx="2615184" cy="3383280"/>
          </a:xfrm>
          <a:prstGeom prst="roundRect">
            <a:avLst>
              <a:gd name="adj" fmla="val 3497"/>
            </a:avLst>
          </a:prstGeom>
          <a:solidFill>
            <a:srgbClr val="F4F7FC"/>
          </a:solidFill>
          <a:ln/>
          <a:effectLst>
            <a:outerShdw sx="100000" sy="100000" kx="0" ky="0" algn="bl" rotWithShape="0" blurRad="101600" dist="25400" dir="5400000">
              <a:srgbClr val="1E2761">
                <a:alpha val="12000"/>
              </a:srgbClr>
            </a:outerShdw>
          </a:effectLst>
        </p:spPr>
      </p:sp>
      <p:sp>
        <p:nvSpPr>
          <p:cNvPr id="9" name="Shape 6"/>
          <p:cNvSpPr/>
          <p:nvPr/>
        </p:nvSpPr>
        <p:spPr>
          <a:xfrm>
            <a:off x="3639312" y="2157984"/>
            <a:ext cx="512064" cy="512064"/>
          </a:xfrm>
          <a:prstGeom prst="ellipse">
            <a:avLst/>
          </a:prstGeom>
          <a:solidFill>
            <a:srgbClr val="1E2761"/>
          </a:solidFill>
          <a:ln/>
        </p:spPr>
      </p:sp>
      <p:pic>
        <p:nvPicPr>
          <p:cNvPr id="10" name="Image 1" descr="/tmp/claude-0/-home-user-plugbits-plugins/8ace6739-6c8b-5dc3-ad00-7f049c58d65c/scratchpad/icons/FiUpload_white.png">    </p:cNvPr>
          <p:cNvPicPr>
            <a:picLocks noChangeAspect="1"/>
          </p:cNvPicPr>
          <p:nvPr/>
        </p:nvPicPr>
        <p:blipFill>
          <a:blip r:embed="rId2"/>
          <a:stretch>
            <a:fillRect/>
          </a:stretch>
        </p:blipFill>
        <p:spPr>
          <a:xfrm>
            <a:off x="3754526" y="2273198"/>
            <a:ext cx="281635" cy="281635"/>
          </a:xfrm>
          <a:prstGeom prst="rect">
            <a:avLst/>
          </a:prstGeom>
        </p:spPr>
      </p:pic>
      <p:sp>
        <p:nvSpPr>
          <p:cNvPr id="11" name="Text 7"/>
          <p:cNvSpPr/>
          <p:nvPr/>
        </p:nvSpPr>
        <p:spPr>
          <a:xfrm>
            <a:off x="3639312" y="2779776"/>
            <a:ext cx="2103120" cy="320040"/>
          </a:xfrm>
          <a:prstGeom prst="rect">
            <a:avLst/>
          </a:prstGeom>
          <a:noFill/>
          <a:ln/>
        </p:spPr>
        <p:txBody>
          <a:bodyPr wrap="square" lIns="0" tIns="0" rIns="0" bIns="0" rtlCol="0" anchor="ctr"/>
          <a:lstStyle/>
          <a:p>
            <a:pPr indent="0" marL="0">
              <a:buNone/>
            </a:pPr>
            <a:r>
              <a:rPr lang="en-US" sz="1400" b="1" dirty="0">
                <a:solidFill>
                  <a:srgbClr val="1E2761"/>
                </a:solidFill>
                <a:latin typeface="Yu Gothic" pitchFamily="34" charset="0"/>
                <a:ea typeface="Yu Gothic" pitchFamily="34" charset="-122"/>
                <a:cs typeface="Yu Gothic" pitchFamily="34" charset="-120"/>
              </a:rPr>
              <a:t>アップロード即検索</a:t>
            </a:r>
            <a:endParaRPr lang="en-US" sz="1400" dirty="0"/>
          </a:p>
        </p:txBody>
      </p:sp>
      <p:sp>
        <p:nvSpPr>
          <p:cNvPr id="12" name="Text 8"/>
          <p:cNvSpPr/>
          <p:nvPr/>
        </p:nvSpPr>
        <p:spPr>
          <a:xfrm>
            <a:off x="3639312" y="3127248"/>
            <a:ext cx="2103120" cy="1993392"/>
          </a:xfrm>
          <a:prstGeom prst="rect">
            <a:avLst/>
          </a:prstGeom>
          <a:noFill/>
          <a:ln/>
        </p:spPr>
        <p:txBody>
          <a:bodyPr wrap="square" lIns="0" tIns="0" rIns="0" bIns="0" rtlCol="0" anchor="t"/>
          <a:lstStyle/>
          <a:p>
            <a:pPr indent="0" marL="0">
              <a:lnSpc>
                <a:spcPct val="118000"/>
              </a:lnSpc>
              <a:buNone/>
            </a:pPr>
            <a:r>
              <a:rPr lang="en-US" sz="1150" dirty="0">
                <a:solidFill>
                  <a:srgbClr val="1A1F36"/>
                </a:solidFill>
                <a:latin typeface="Yu Gothic" pitchFamily="34" charset="0"/>
                <a:ea typeface="Yu Gothic" pitchFamily="34" charset="-122"/>
                <a:cs typeface="Yu Gothic" pitchFamily="34" charset="-120"/>
              </a:rPr>
              <a:t>受け取った図面PDFをその場で照合。kintone登録は不要</a:t>
            </a:r>
            <a:endParaRPr lang="en-US" sz="1150" dirty="0"/>
          </a:p>
        </p:txBody>
      </p:sp>
      <p:sp>
        <p:nvSpPr>
          <p:cNvPr id="13" name="Shape 9"/>
          <p:cNvSpPr/>
          <p:nvPr/>
        </p:nvSpPr>
        <p:spPr>
          <a:xfrm>
            <a:off x="6217920" y="1920240"/>
            <a:ext cx="2615184" cy="3383280"/>
          </a:xfrm>
          <a:prstGeom prst="roundRect">
            <a:avLst>
              <a:gd name="adj" fmla="val 3497"/>
            </a:avLst>
          </a:prstGeom>
          <a:solidFill>
            <a:srgbClr val="F4F7FC"/>
          </a:solidFill>
          <a:ln/>
          <a:effectLst>
            <a:outerShdw sx="100000" sy="100000" kx="0" ky="0" algn="bl" rotWithShape="0" blurRad="101600" dist="25400" dir="5400000">
              <a:srgbClr val="1E2761">
                <a:alpha val="12000"/>
              </a:srgbClr>
            </a:outerShdw>
          </a:effectLst>
        </p:spPr>
      </p:sp>
      <p:sp>
        <p:nvSpPr>
          <p:cNvPr id="14" name="Shape 10"/>
          <p:cNvSpPr/>
          <p:nvPr/>
        </p:nvSpPr>
        <p:spPr>
          <a:xfrm>
            <a:off x="6473952" y="2157984"/>
            <a:ext cx="512064" cy="512064"/>
          </a:xfrm>
          <a:prstGeom prst="ellipse">
            <a:avLst/>
          </a:prstGeom>
          <a:solidFill>
            <a:srgbClr val="1E2761"/>
          </a:solidFill>
          <a:ln/>
        </p:spPr>
      </p:sp>
      <p:pic>
        <p:nvPicPr>
          <p:cNvPr id="15" name="Image 2" descr="/tmp/claude-0/-home-user-plugbits-plugins/8ace6739-6c8b-5dc3-ad00-7f049c58d65c/scratchpad/icons/FiEdit3_white.png">    </p:cNvPr>
          <p:cNvPicPr>
            <a:picLocks noChangeAspect="1"/>
          </p:cNvPicPr>
          <p:nvPr/>
        </p:nvPicPr>
        <p:blipFill>
          <a:blip r:embed="rId3"/>
          <a:stretch>
            <a:fillRect/>
          </a:stretch>
        </p:blipFill>
        <p:spPr>
          <a:xfrm>
            <a:off x="6589166" y="2273198"/>
            <a:ext cx="281635" cy="281635"/>
          </a:xfrm>
          <a:prstGeom prst="rect">
            <a:avLst/>
          </a:prstGeom>
        </p:spPr>
      </p:pic>
      <p:sp>
        <p:nvSpPr>
          <p:cNvPr id="16" name="Text 11"/>
          <p:cNvSpPr/>
          <p:nvPr/>
        </p:nvSpPr>
        <p:spPr>
          <a:xfrm>
            <a:off x="6473952" y="2779776"/>
            <a:ext cx="2103120" cy="320040"/>
          </a:xfrm>
          <a:prstGeom prst="rect">
            <a:avLst/>
          </a:prstGeom>
          <a:noFill/>
          <a:ln/>
        </p:spPr>
        <p:txBody>
          <a:bodyPr wrap="square" lIns="0" tIns="0" rIns="0" bIns="0" rtlCol="0" anchor="ctr"/>
          <a:lstStyle/>
          <a:p>
            <a:pPr indent="0" marL="0">
              <a:buNone/>
            </a:pPr>
            <a:r>
              <a:rPr lang="en-US" sz="1400" b="1" dirty="0">
                <a:solidFill>
                  <a:srgbClr val="1E2761"/>
                </a:solidFill>
                <a:latin typeface="Yu Gothic" pitchFamily="34" charset="0"/>
                <a:ea typeface="Yu Gothic" pitchFamily="34" charset="-122"/>
                <a:cs typeface="Yu Gothic" pitchFamily="34" charset="-120"/>
              </a:rPr>
              <a:t>OCR自動入力</a:t>
            </a:r>
            <a:endParaRPr lang="en-US" sz="1400" dirty="0"/>
          </a:p>
        </p:txBody>
      </p:sp>
      <p:sp>
        <p:nvSpPr>
          <p:cNvPr id="17" name="Text 12"/>
          <p:cNvSpPr/>
          <p:nvPr/>
        </p:nvSpPr>
        <p:spPr>
          <a:xfrm>
            <a:off x="6473952" y="3127248"/>
            <a:ext cx="2103120" cy="1993392"/>
          </a:xfrm>
          <a:prstGeom prst="rect">
            <a:avLst/>
          </a:prstGeom>
          <a:noFill/>
          <a:ln/>
        </p:spPr>
        <p:txBody>
          <a:bodyPr wrap="square" lIns="0" tIns="0" rIns="0" bIns="0" rtlCol="0" anchor="t"/>
          <a:lstStyle/>
          <a:p>
            <a:pPr indent="0" marL="0">
              <a:lnSpc>
                <a:spcPct val="118000"/>
              </a:lnSpc>
              <a:buNone/>
            </a:pPr>
            <a:r>
              <a:rPr lang="en-US" sz="1150" dirty="0">
                <a:solidFill>
                  <a:srgbClr val="1A1F36"/>
                </a:solidFill>
                <a:latin typeface="Yu Gothic" pitchFamily="34" charset="0"/>
                <a:ea typeface="Yu Gothic" pitchFamily="34" charset="-122"/>
                <a:cs typeface="Yu Gothic" pitchFamily="34" charset="-120"/>
              </a:rPr>
              <a:t>図番・品名・材質・寸法を自動抽出し、登録の手間を削減</a:t>
            </a:r>
            <a:endParaRPr lang="en-US" sz="1150" dirty="0"/>
          </a:p>
        </p:txBody>
      </p:sp>
      <p:sp>
        <p:nvSpPr>
          <p:cNvPr id="18" name="Shape 13"/>
          <p:cNvSpPr/>
          <p:nvPr/>
        </p:nvSpPr>
        <p:spPr>
          <a:xfrm>
            <a:off x="9052560" y="1920240"/>
            <a:ext cx="2615184" cy="3383280"/>
          </a:xfrm>
          <a:prstGeom prst="roundRect">
            <a:avLst>
              <a:gd name="adj" fmla="val 3497"/>
            </a:avLst>
          </a:prstGeom>
          <a:solidFill>
            <a:srgbClr val="F4F7FC"/>
          </a:solidFill>
          <a:ln/>
          <a:effectLst>
            <a:outerShdw sx="100000" sy="100000" kx="0" ky="0" algn="bl" rotWithShape="0" blurRad="101600" dist="25400" dir="5400000">
              <a:srgbClr val="1E2761">
                <a:alpha val="12000"/>
              </a:srgbClr>
            </a:outerShdw>
          </a:effectLst>
        </p:spPr>
      </p:sp>
      <p:sp>
        <p:nvSpPr>
          <p:cNvPr id="19" name="Shape 14"/>
          <p:cNvSpPr/>
          <p:nvPr/>
        </p:nvSpPr>
        <p:spPr>
          <a:xfrm>
            <a:off x="9308592" y="2157984"/>
            <a:ext cx="512064" cy="512064"/>
          </a:xfrm>
          <a:prstGeom prst="ellipse">
            <a:avLst/>
          </a:prstGeom>
          <a:solidFill>
            <a:srgbClr val="1E2761"/>
          </a:solidFill>
          <a:ln/>
        </p:spPr>
      </p:sp>
      <p:pic>
        <p:nvPicPr>
          <p:cNvPr id="20" name="Image 3" descr="/tmp/claude-0/-home-user-plugbits-plugins/8ace6739-6c8b-5dc3-ad00-7f049c58d65c/scratchpad/icons/FiSettings_white.png">    </p:cNvPr>
          <p:cNvPicPr>
            <a:picLocks noChangeAspect="1"/>
          </p:cNvPicPr>
          <p:nvPr/>
        </p:nvPicPr>
        <p:blipFill>
          <a:blip r:embed="rId4"/>
          <a:stretch>
            <a:fillRect/>
          </a:stretch>
        </p:blipFill>
        <p:spPr>
          <a:xfrm>
            <a:off x="9423806" y="2273198"/>
            <a:ext cx="281635" cy="281635"/>
          </a:xfrm>
          <a:prstGeom prst="rect">
            <a:avLst/>
          </a:prstGeom>
        </p:spPr>
      </p:pic>
      <p:sp>
        <p:nvSpPr>
          <p:cNvPr id="21" name="Text 15"/>
          <p:cNvSpPr/>
          <p:nvPr/>
        </p:nvSpPr>
        <p:spPr>
          <a:xfrm>
            <a:off x="9308592" y="2779776"/>
            <a:ext cx="2103120" cy="320040"/>
          </a:xfrm>
          <a:prstGeom prst="rect">
            <a:avLst/>
          </a:prstGeom>
          <a:noFill/>
          <a:ln/>
        </p:spPr>
        <p:txBody>
          <a:bodyPr wrap="square" lIns="0" tIns="0" rIns="0" bIns="0" rtlCol="0" anchor="ctr"/>
          <a:lstStyle/>
          <a:p>
            <a:pPr indent="0" marL="0">
              <a:buNone/>
            </a:pPr>
            <a:r>
              <a:rPr lang="en-US" sz="1400" b="1" dirty="0">
                <a:solidFill>
                  <a:srgbClr val="1E2761"/>
                </a:solidFill>
                <a:latin typeface="Yu Gothic" pitchFamily="34" charset="0"/>
                <a:ea typeface="Yu Gothic" pitchFamily="34" charset="-122"/>
                <a:cs typeface="Yu Gothic" pitchFamily="34" charset="-120"/>
              </a:rPr>
              <a:t>管理・一括登録</a:t>
            </a:r>
            <a:endParaRPr lang="en-US" sz="1400" dirty="0"/>
          </a:p>
        </p:txBody>
      </p:sp>
      <p:sp>
        <p:nvSpPr>
          <p:cNvPr id="22" name="Text 16"/>
          <p:cNvSpPr/>
          <p:nvPr/>
        </p:nvSpPr>
        <p:spPr>
          <a:xfrm>
            <a:off x="9308592" y="3127248"/>
            <a:ext cx="2103120" cy="1993392"/>
          </a:xfrm>
          <a:prstGeom prst="rect">
            <a:avLst/>
          </a:prstGeom>
          <a:noFill/>
          <a:ln/>
        </p:spPr>
        <p:txBody>
          <a:bodyPr wrap="square" lIns="0" tIns="0" rIns="0" bIns="0" rtlCol="0" anchor="t"/>
          <a:lstStyle/>
          <a:p>
            <a:pPr indent="0" marL="0">
              <a:lnSpc>
                <a:spcPct val="118000"/>
              </a:lnSpc>
              <a:buNone/>
            </a:pPr>
            <a:r>
              <a:rPr lang="en-US" sz="1150" dirty="0">
                <a:solidFill>
                  <a:srgbClr val="1A1F36"/>
                </a:solidFill>
                <a:latin typeface="Yu Gothic" pitchFamily="34" charset="0"/>
                <a:ea typeface="Yu Gothic" pitchFamily="34" charset="-122"/>
                <a:cs typeface="Yu Gothic" pitchFamily="34" charset="-120"/>
              </a:rPr>
              <a:t>既存レコードをまとめて検索対象化。登録漏れも自動検知</a:t>
            </a:r>
            <a:endParaRPr lang="en-US" sz="1150" dirty="0"/>
          </a:p>
        </p:txBody>
      </p:sp>
      <p:sp>
        <p:nvSpPr>
          <p:cNvPr id="23" name="Text 17"/>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lIns="0" tIns="0" rIns="0" bIns="0" rtlCol="0" anchor="ctr"/>
          <a:lstStyle/>
          <a:p>
            <a:pPr indent="0" marL="0">
              <a:buNone/>
            </a:pPr>
            <a:r>
              <a:rPr lang="en-US" sz="1200" b="1" spc="100" kern="0" dirty="0">
                <a:solidFill>
                  <a:srgbClr val="E8833A"/>
                </a:solidFill>
                <a:latin typeface="Yu Gothic" pitchFamily="34" charset="0"/>
                <a:ea typeface="Yu Gothic" pitchFamily="34" charset="-122"/>
                <a:cs typeface="Yu Gothic" pitchFamily="34" charset="-120"/>
              </a:rPr>
              <a:t>機能 ①</a:t>
            </a:r>
            <a:endParaRPr lang="en-US" sz="1200" dirty="0"/>
          </a:p>
        </p:txBody>
      </p:sp>
      <p:sp>
        <p:nvSpPr>
          <p:cNvPr id="3" name="Text 1"/>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類似図面検索</a:t>
            </a:r>
            <a:endParaRPr lang="en-US" sz="29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詳細画面の「類似図面検索」ボタンから、似た過去図面をスコア順に一覧表示します。</a:t>
            </a:r>
            <a:endParaRPr lang="en-US" sz="1400" dirty="0"/>
          </a:p>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検索の確度バッジ（高／中／低）で、一目で信頼度を把握できます。</a:t>
            </a:r>
            <a:endParaRPr lang="en-US" sz="1400" dirty="0"/>
          </a:p>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一致バッジの例：図番一致・材質一致・寸法近似・外形近似 など</a:t>
            </a:r>
            <a:endParaRPr lang="en-US" sz="1400" dirty="0"/>
          </a:p>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スコア内訳を見れば「なぜ似ているか」が分かります。</a:t>
            </a:r>
            <a:endParaRPr lang="en-US" sz="1400" dirty="0"/>
          </a:p>
        </p:txBody>
      </p:sp>
      <p:sp>
        <p:nvSpPr>
          <p:cNvPr id="5" name="Shape 3"/>
          <p:cNvSpPr/>
          <p:nvPr/>
        </p:nvSpPr>
        <p:spPr>
          <a:xfrm>
            <a:off x="5989320" y="1600200"/>
            <a:ext cx="5669280" cy="4480560"/>
          </a:xfrm>
          <a:prstGeom prst="roundRect">
            <a:avLst>
              <a:gd name="adj" fmla="val 2449"/>
            </a:avLst>
          </a:prstGeom>
          <a:solidFill>
            <a:srgbClr val="F4F7FC"/>
          </a:solidFill>
          <a:ln w="19050">
            <a:solidFill>
              <a:srgbClr val="CADCFC"/>
            </a:solidFill>
            <a:prstDash val="dash"/>
          </a:ln>
        </p:spPr>
      </p:sp>
      <p:sp>
        <p:nvSpPr>
          <p:cNvPr id="6" name="Shape 4"/>
          <p:cNvSpPr/>
          <p:nvPr/>
        </p:nvSpPr>
        <p:spPr>
          <a:xfrm>
            <a:off x="8503920" y="3337560"/>
            <a:ext cx="640080" cy="640080"/>
          </a:xfrm>
          <a:prstGeom prst="ellipse">
            <a:avLst/>
          </a:prstGeom>
          <a:solidFill>
            <a:srgbClr val="FFFFFF"/>
          </a:solidFill>
          <a:ln/>
        </p:spPr>
      </p:sp>
      <p:pic>
        <p:nvPicPr>
          <p:cNvPr id="7" name="Image 0" descr="/tmp/claude-0/-home-user-plugbits-plugins/8ace6739-6c8b-5dc3-ad00-7f049c58d65c/scratchpad/icons/FiImage_navy.png">    </p:cNvPr>
          <p:cNvPicPr>
            <a:picLocks noChangeAspect="1"/>
          </p:cNvPicPr>
          <p:nvPr/>
        </p:nvPicPr>
        <p:blipFill>
          <a:blip r:embed="rId1"/>
          <a:stretch>
            <a:fillRect/>
          </a:stretch>
        </p:blipFill>
        <p:spPr>
          <a:xfrm>
            <a:off x="8644738" y="3478378"/>
            <a:ext cx="358445" cy="358445"/>
          </a:xfrm>
          <a:prstGeom prst="rect">
            <a:avLst/>
          </a:prstGeom>
        </p:spPr>
      </p:pic>
      <p:sp>
        <p:nvSpPr>
          <p:cNvPr id="8" name="Text 5"/>
          <p:cNvSpPr/>
          <p:nvPr/>
        </p:nvSpPr>
        <p:spPr>
          <a:xfrm>
            <a:off x="6263640" y="4069080"/>
            <a:ext cx="5120640" cy="365760"/>
          </a:xfrm>
          <a:prstGeom prst="rect">
            <a:avLst/>
          </a:prstGeom>
          <a:noFill/>
          <a:ln/>
        </p:spPr>
        <p:txBody>
          <a:bodyPr wrap="square" lIns="0" tIns="0" rIns="0" bIns="0" rtlCol="0" anchor="ctr"/>
          <a:lstStyle/>
          <a:p>
            <a:pPr algn="ctr" indent="0" marL="0">
              <a:buNone/>
            </a:pPr>
            <a:r>
              <a:rPr lang="en-US" sz="1100" dirty="0">
                <a:solidFill>
                  <a:srgbClr val="5A6478"/>
                </a:solidFill>
                <a:latin typeface="Yu Gothic" pitchFamily="34" charset="0"/>
                <a:ea typeface="Yu Gothic" pitchFamily="34" charset="-122"/>
                <a:cs typeface="Yu Gothic" pitchFamily="34" charset="-120"/>
              </a:rPr>
              <a:t>画面イメージ（スクリーンショット差し替え）</a:t>
            </a:r>
            <a:endParaRPr lang="en-US" sz="1100" dirty="0"/>
          </a:p>
        </p:txBody>
      </p:sp>
      <p:sp>
        <p:nvSpPr>
          <p:cNvPr id="9" name="Text 6"/>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lIns="0" tIns="0" rIns="0" bIns="0" rtlCol="0" anchor="ctr"/>
          <a:lstStyle/>
          <a:p>
            <a:pPr indent="0" marL="0">
              <a:buNone/>
            </a:pPr>
            <a:r>
              <a:rPr lang="en-US" sz="1200" b="1" spc="100" kern="0" dirty="0">
                <a:solidFill>
                  <a:srgbClr val="E8833A"/>
                </a:solidFill>
                <a:latin typeface="Yu Gothic" pitchFamily="34" charset="0"/>
                <a:ea typeface="Yu Gothic" pitchFamily="34" charset="-122"/>
                <a:cs typeface="Yu Gothic" pitchFamily="34" charset="-120"/>
              </a:rPr>
              <a:t>機能 ②</a:t>
            </a:r>
            <a:endParaRPr lang="en-US" sz="1200" dirty="0"/>
          </a:p>
        </p:txBody>
      </p:sp>
      <p:sp>
        <p:nvSpPr>
          <p:cNvPr id="3" name="Text 1"/>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アップロード即検索</a:t>
            </a:r>
            <a:endParaRPr lang="en-US" sz="2900" dirty="0"/>
          </a:p>
        </p:txBody>
      </p:sp>
      <p:sp>
        <p:nvSpPr>
          <p:cNvPr id="4" name="Text 2"/>
          <p:cNvSpPr/>
          <p:nvPr/>
        </p:nvSpPr>
        <p:spPr>
          <a:xfrm>
            <a:off x="548640" y="1600200"/>
            <a:ext cx="5029200" cy="164592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一覧画面の「類似検索（アップロード）」から、PDFをドラッグ&amp;ドロップするだけ。</a:t>
            </a:r>
            <a:endParaRPr lang="en-US" sz="1400" dirty="0"/>
          </a:p>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kintoneへの登録は不要。その場で検索結果が得られます。</a:t>
            </a:r>
            <a:endParaRPr lang="en-US" sz="1400" dirty="0"/>
          </a:p>
        </p:txBody>
      </p:sp>
      <p:sp>
        <p:nvSpPr>
          <p:cNvPr id="5" name="Shape 3"/>
          <p:cNvSpPr/>
          <p:nvPr/>
        </p:nvSpPr>
        <p:spPr>
          <a:xfrm>
            <a:off x="548640" y="3383280"/>
            <a:ext cx="5029200" cy="1417320"/>
          </a:xfrm>
          <a:prstGeom prst="roundRect">
            <a:avLst>
              <a:gd name="adj" fmla="val 6452"/>
            </a:avLst>
          </a:prstGeom>
          <a:solidFill>
            <a:srgbClr val="F4F7FC"/>
          </a:solidFill>
          <a:ln/>
        </p:spPr>
      </p:sp>
      <p:sp>
        <p:nvSpPr>
          <p:cNvPr id="6" name="Text 4"/>
          <p:cNvSpPr/>
          <p:nvPr/>
        </p:nvSpPr>
        <p:spPr>
          <a:xfrm>
            <a:off x="804672" y="3547872"/>
            <a:ext cx="4517136" cy="274320"/>
          </a:xfrm>
          <a:prstGeom prst="rect">
            <a:avLst/>
          </a:prstGeom>
          <a:noFill/>
          <a:ln/>
        </p:spPr>
        <p:txBody>
          <a:bodyPr wrap="square" lIns="0" tIns="0" rIns="0" bIns="0" rtlCol="0" anchor="ctr"/>
          <a:lstStyle/>
          <a:p>
            <a:pPr indent="0" marL="0">
              <a:buNone/>
            </a:pPr>
            <a:r>
              <a:rPr lang="en-US" sz="1100" b="1" dirty="0">
                <a:solidFill>
                  <a:srgbClr val="E8833A"/>
                </a:solidFill>
                <a:latin typeface="Yu Gothic" pitchFamily="34" charset="0"/>
                <a:ea typeface="Yu Gothic" pitchFamily="34" charset="-122"/>
                <a:cs typeface="Yu Gothic" pitchFamily="34" charset="-120"/>
              </a:rPr>
              <a:t>ユースケース</a:t>
            </a:r>
            <a:endParaRPr lang="en-US" sz="1100" dirty="0"/>
          </a:p>
        </p:txBody>
      </p:sp>
      <p:sp>
        <p:nvSpPr>
          <p:cNvPr id="7" name="Text 5"/>
          <p:cNvSpPr/>
          <p:nvPr/>
        </p:nvSpPr>
        <p:spPr>
          <a:xfrm>
            <a:off x="804672" y="3858768"/>
            <a:ext cx="4517136" cy="822960"/>
          </a:xfrm>
          <a:prstGeom prst="rect">
            <a:avLst/>
          </a:prstGeom>
          <a:noFill/>
          <a:ln/>
        </p:spPr>
        <p:txBody>
          <a:bodyPr wrap="square" lIns="0" tIns="0" rIns="0" bIns="0" rtlCol="0" anchor="ctr"/>
          <a:lstStyle/>
          <a:p>
            <a:pPr indent="0" marL="0">
              <a:lnSpc>
                <a:spcPct val="125000"/>
              </a:lnSpc>
              <a:buNone/>
            </a:pPr>
            <a:r>
              <a:rPr lang="en-US" sz="1350" dirty="0">
                <a:solidFill>
                  <a:srgbClr val="1A1F36"/>
                </a:solidFill>
                <a:latin typeface="Yu Gothic" pitchFamily="34" charset="0"/>
                <a:ea typeface="Yu Gothic" pitchFamily="34" charset="-122"/>
                <a:cs typeface="Yu Gothic" pitchFamily="34" charset="-120"/>
              </a:rPr>
              <a:t>見積依頼のPDFを受領 → 過去実績を確認 → 見積根拠に</a:t>
            </a:r>
            <a:endParaRPr lang="en-US" sz="1350" dirty="0"/>
          </a:p>
        </p:txBody>
      </p:sp>
      <p:sp>
        <p:nvSpPr>
          <p:cNvPr id="8" name="Shape 6"/>
          <p:cNvSpPr/>
          <p:nvPr/>
        </p:nvSpPr>
        <p:spPr>
          <a:xfrm>
            <a:off x="5989320" y="1600200"/>
            <a:ext cx="5669280" cy="4480560"/>
          </a:xfrm>
          <a:prstGeom prst="roundRect">
            <a:avLst>
              <a:gd name="adj" fmla="val 2449"/>
            </a:avLst>
          </a:prstGeom>
          <a:solidFill>
            <a:srgbClr val="F4F7FC"/>
          </a:solidFill>
          <a:ln w="19050">
            <a:solidFill>
              <a:srgbClr val="CADCFC"/>
            </a:solidFill>
            <a:prstDash val="dash"/>
          </a:ln>
        </p:spPr>
      </p:sp>
      <p:sp>
        <p:nvSpPr>
          <p:cNvPr id="9" name="Shape 7"/>
          <p:cNvSpPr/>
          <p:nvPr/>
        </p:nvSpPr>
        <p:spPr>
          <a:xfrm>
            <a:off x="8503920" y="3337560"/>
            <a:ext cx="640080" cy="640080"/>
          </a:xfrm>
          <a:prstGeom prst="ellipse">
            <a:avLst/>
          </a:prstGeom>
          <a:solidFill>
            <a:srgbClr val="FFFFFF"/>
          </a:solidFill>
          <a:ln/>
        </p:spPr>
      </p:sp>
      <p:pic>
        <p:nvPicPr>
          <p:cNvPr id="10" name="Image 0" descr="/tmp/claude-0/-home-user-plugbits-plugins/8ace6739-6c8b-5dc3-ad00-7f049c58d65c/scratchpad/icons/FiImage_navy.png">    </p:cNvPr>
          <p:cNvPicPr>
            <a:picLocks noChangeAspect="1"/>
          </p:cNvPicPr>
          <p:nvPr/>
        </p:nvPicPr>
        <p:blipFill>
          <a:blip r:embed="rId1"/>
          <a:stretch>
            <a:fillRect/>
          </a:stretch>
        </p:blipFill>
        <p:spPr>
          <a:xfrm>
            <a:off x="8644738" y="3478378"/>
            <a:ext cx="358445" cy="358445"/>
          </a:xfrm>
          <a:prstGeom prst="rect">
            <a:avLst/>
          </a:prstGeom>
        </p:spPr>
      </p:pic>
      <p:sp>
        <p:nvSpPr>
          <p:cNvPr id="11" name="Text 8"/>
          <p:cNvSpPr/>
          <p:nvPr/>
        </p:nvSpPr>
        <p:spPr>
          <a:xfrm>
            <a:off x="6263640" y="4069080"/>
            <a:ext cx="5120640" cy="365760"/>
          </a:xfrm>
          <a:prstGeom prst="rect">
            <a:avLst/>
          </a:prstGeom>
          <a:noFill/>
          <a:ln/>
        </p:spPr>
        <p:txBody>
          <a:bodyPr wrap="square" lIns="0" tIns="0" rIns="0" bIns="0" rtlCol="0" anchor="ctr"/>
          <a:lstStyle/>
          <a:p>
            <a:pPr algn="ctr" indent="0" marL="0">
              <a:buNone/>
            </a:pPr>
            <a:r>
              <a:rPr lang="en-US" sz="1100" dirty="0">
                <a:solidFill>
                  <a:srgbClr val="5A6478"/>
                </a:solidFill>
                <a:latin typeface="Yu Gothic" pitchFamily="34" charset="0"/>
                <a:ea typeface="Yu Gothic" pitchFamily="34" charset="-122"/>
                <a:cs typeface="Yu Gothic" pitchFamily="34" charset="-120"/>
              </a:rPr>
              <a:t>画面イメージ（スクリーンショット差し替え）</a:t>
            </a:r>
            <a:endParaRPr lang="en-US" sz="11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lIns="0" tIns="0" rIns="0" bIns="0" rtlCol="0" anchor="ctr"/>
          <a:lstStyle/>
          <a:p>
            <a:pPr indent="0" marL="0">
              <a:buNone/>
            </a:pPr>
            <a:r>
              <a:rPr lang="en-US" sz="1200" b="1" spc="100" kern="0" dirty="0">
                <a:solidFill>
                  <a:srgbClr val="E8833A"/>
                </a:solidFill>
                <a:latin typeface="Yu Gothic" pitchFamily="34" charset="0"/>
                <a:ea typeface="Yu Gothic" pitchFamily="34" charset="-122"/>
                <a:cs typeface="Yu Gothic" pitchFamily="34" charset="-120"/>
              </a:rPr>
              <a:t>機能 ③</a:t>
            </a:r>
            <a:endParaRPr lang="en-US" sz="1200" dirty="0"/>
          </a:p>
        </p:txBody>
      </p:sp>
      <p:sp>
        <p:nvSpPr>
          <p:cNvPr id="3" name="Text 1"/>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700" b="1" dirty="0">
                <a:solidFill>
                  <a:srgbClr val="1E2761"/>
                </a:solidFill>
                <a:latin typeface="Yu Gothic" pitchFamily="34" charset="0"/>
                <a:ea typeface="Yu Gothic" pitchFamily="34" charset="-122"/>
                <a:cs typeface="Yu Gothic" pitchFamily="34" charset="-120"/>
              </a:rPr>
              <a:t>図面登録とOCR自動入力</a:t>
            </a:r>
            <a:endParaRPr lang="en-US" sz="27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PDFをドロップすると「図面をOCR解析しています...」と表示され、自動解析が始まります。</a:t>
            </a:r>
            <a:endParaRPr lang="en-US" sz="1400" dirty="0"/>
          </a:p>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図番・品名・材質・寸法・加工方法が自動入力されます。</a:t>
            </a:r>
            <a:endParaRPr lang="en-US" sz="1400" dirty="0"/>
          </a:p>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既存値からのサジェストで表記ゆれを防止。</a:t>
            </a:r>
            <a:endParaRPr lang="en-US" sz="1400" dirty="0"/>
          </a:p>
          <a:p>
            <a:pPr marL="342900" indent="-342900">
              <a:lnSpc>
                <a:spcPct val="120000"/>
              </a:lnSpc>
              <a:spcAft>
                <a:spcPts val="1600"/>
              </a:spcAft>
              <a:buSzPct val="100000"/>
              <a:buChar char="•"/>
            </a:pPr>
            <a:r>
              <a:rPr lang="en-US" sz="1400" dirty="0">
                <a:solidFill>
                  <a:srgbClr val="1A1F36"/>
                </a:solidFill>
                <a:latin typeface="Yu Gothic" pitchFamily="34" charset="0"/>
                <a:ea typeface="Yu Gothic" pitchFamily="34" charset="-122"/>
                <a:cs typeface="Yu Gothic" pitchFamily="34" charset="-120"/>
              </a:rPr>
              <a:t>手動タグに加え、AIによる形状タグも付与されます。</a:t>
            </a:r>
            <a:endParaRPr lang="en-US" sz="1400" dirty="0"/>
          </a:p>
        </p:txBody>
      </p:sp>
      <p:sp>
        <p:nvSpPr>
          <p:cNvPr id="5" name="Shape 3"/>
          <p:cNvSpPr/>
          <p:nvPr/>
        </p:nvSpPr>
        <p:spPr>
          <a:xfrm>
            <a:off x="5989320" y="1600200"/>
            <a:ext cx="5669280" cy="4480560"/>
          </a:xfrm>
          <a:prstGeom prst="roundRect">
            <a:avLst>
              <a:gd name="adj" fmla="val 2449"/>
            </a:avLst>
          </a:prstGeom>
          <a:solidFill>
            <a:srgbClr val="F4F7FC"/>
          </a:solidFill>
          <a:ln w="19050">
            <a:solidFill>
              <a:srgbClr val="CADCFC"/>
            </a:solidFill>
            <a:prstDash val="dash"/>
          </a:ln>
        </p:spPr>
      </p:sp>
      <p:sp>
        <p:nvSpPr>
          <p:cNvPr id="6" name="Shape 4"/>
          <p:cNvSpPr/>
          <p:nvPr/>
        </p:nvSpPr>
        <p:spPr>
          <a:xfrm>
            <a:off x="8503920" y="3337560"/>
            <a:ext cx="640080" cy="640080"/>
          </a:xfrm>
          <a:prstGeom prst="ellipse">
            <a:avLst/>
          </a:prstGeom>
          <a:solidFill>
            <a:srgbClr val="FFFFFF"/>
          </a:solidFill>
          <a:ln/>
        </p:spPr>
      </p:sp>
      <p:pic>
        <p:nvPicPr>
          <p:cNvPr id="7" name="Image 0" descr="/tmp/claude-0/-home-user-plugbits-plugins/8ace6739-6c8b-5dc3-ad00-7f049c58d65c/scratchpad/icons/FiImage_navy.png">    </p:cNvPr>
          <p:cNvPicPr>
            <a:picLocks noChangeAspect="1"/>
          </p:cNvPicPr>
          <p:nvPr/>
        </p:nvPicPr>
        <p:blipFill>
          <a:blip r:embed="rId1"/>
          <a:stretch>
            <a:fillRect/>
          </a:stretch>
        </p:blipFill>
        <p:spPr>
          <a:xfrm>
            <a:off x="8644738" y="3478378"/>
            <a:ext cx="358445" cy="358445"/>
          </a:xfrm>
          <a:prstGeom prst="rect">
            <a:avLst/>
          </a:prstGeom>
        </p:spPr>
      </p:pic>
      <p:sp>
        <p:nvSpPr>
          <p:cNvPr id="8" name="Text 5"/>
          <p:cNvSpPr/>
          <p:nvPr/>
        </p:nvSpPr>
        <p:spPr>
          <a:xfrm>
            <a:off x="6263640" y="4069080"/>
            <a:ext cx="5120640" cy="365760"/>
          </a:xfrm>
          <a:prstGeom prst="rect">
            <a:avLst/>
          </a:prstGeom>
          <a:noFill/>
          <a:ln/>
        </p:spPr>
        <p:txBody>
          <a:bodyPr wrap="square" lIns="0" tIns="0" rIns="0" bIns="0" rtlCol="0" anchor="ctr"/>
          <a:lstStyle/>
          <a:p>
            <a:pPr algn="ctr" indent="0" marL="0">
              <a:buNone/>
            </a:pPr>
            <a:r>
              <a:rPr lang="en-US" sz="1100" dirty="0">
                <a:solidFill>
                  <a:srgbClr val="5A6478"/>
                </a:solidFill>
                <a:latin typeface="Yu Gothic" pitchFamily="34" charset="0"/>
                <a:ea typeface="Yu Gothic" pitchFamily="34" charset="-122"/>
                <a:cs typeface="Yu Gothic" pitchFamily="34" charset="-120"/>
              </a:rPr>
              <a:t>画面イメージ（スクリーンショット差し替え）</a:t>
            </a:r>
            <a:endParaRPr lang="en-US" sz="1100" dirty="0"/>
          </a:p>
        </p:txBody>
      </p:sp>
      <p:sp>
        <p:nvSpPr>
          <p:cNvPr id="9" name="Text 6"/>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lIns="0" tIns="0" rIns="0" bIns="0" rtlCol="0" anchor="ctr"/>
          <a:lstStyle/>
          <a:p>
            <a:pPr indent="0" marL="0">
              <a:buNone/>
            </a:pPr>
            <a:r>
              <a:rPr lang="en-US" sz="1200" b="1" spc="100" kern="0" dirty="0">
                <a:solidFill>
                  <a:srgbClr val="E8833A"/>
                </a:solidFill>
                <a:latin typeface="Yu Gothic" pitchFamily="34" charset="0"/>
                <a:ea typeface="Yu Gothic" pitchFamily="34" charset="-122"/>
                <a:cs typeface="Yu Gothic" pitchFamily="34" charset="-120"/>
              </a:rPr>
              <a:t>機能 ④</a:t>
            </a:r>
            <a:endParaRPr lang="en-US" sz="1200" dirty="0"/>
          </a:p>
        </p:txBody>
      </p:sp>
      <p:sp>
        <p:nvSpPr>
          <p:cNvPr id="3" name="Text 1"/>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管理機能</a:t>
            </a:r>
            <a:endParaRPr lang="en-US" sz="2900" dirty="0"/>
          </a:p>
        </p:txBody>
      </p:sp>
      <p:sp>
        <p:nvSpPr>
          <p:cNvPr id="4" name="Text 2"/>
          <p:cNvSpPr/>
          <p:nvPr/>
        </p:nvSpPr>
        <p:spPr>
          <a:xfrm>
            <a:off x="548640" y="1371600"/>
            <a:ext cx="10515600" cy="365760"/>
          </a:xfrm>
          <a:prstGeom prst="rect">
            <a:avLst/>
          </a:prstGeom>
          <a:noFill/>
          <a:ln/>
        </p:spPr>
        <p:txBody>
          <a:bodyPr wrap="square" lIns="0" tIns="0" rIns="0" bIns="0" rtlCol="0" anchor="ctr"/>
          <a:lstStyle/>
          <a:p>
            <a:pPr indent="0" marL="0">
              <a:buNone/>
            </a:pPr>
            <a:r>
              <a:rPr lang="en-US" sz="1400" dirty="0">
                <a:solidFill>
                  <a:srgbClr val="5A6478"/>
                </a:solidFill>
                <a:latin typeface="Yu Gothic" pitchFamily="34" charset="0"/>
                <a:ea typeface="Yu Gothic" pitchFamily="34" charset="-122"/>
                <a:cs typeface="Yu Gothic" pitchFamily="34" charset="-120"/>
              </a:rPr>
              <a:t>一覧画面の「管理 ▾」メニューから、検索対象データの健全性を保てます。</a:t>
            </a:r>
            <a:endParaRPr lang="en-US" sz="1400" dirty="0"/>
          </a:p>
        </p:txBody>
      </p:sp>
      <p:sp>
        <p:nvSpPr>
          <p:cNvPr id="5" name="Shape 3"/>
          <p:cNvSpPr/>
          <p:nvPr/>
        </p:nvSpPr>
        <p:spPr>
          <a:xfrm>
            <a:off x="548640" y="2057400"/>
            <a:ext cx="11064240" cy="1115568"/>
          </a:xfrm>
          <a:prstGeom prst="roundRect">
            <a:avLst>
              <a:gd name="adj" fmla="val 8197"/>
            </a:avLst>
          </a:prstGeom>
          <a:solidFill>
            <a:srgbClr val="F4F7FC"/>
          </a:solidFill>
          <a:ln/>
        </p:spPr>
      </p:sp>
      <p:sp>
        <p:nvSpPr>
          <p:cNvPr id="6" name="Shape 4"/>
          <p:cNvSpPr/>
          <p:nvPr/>
        </p:nvSpPr>
        <p:spPr>
          <a:xfrm>
            <a:off x="822960" y="2359152"/>
            <a:ext cx="512064" cy="512064"/>
          </a:xfrm>
          <a:prstGeom prst="ellipse">
            <a:avLst/>
          </a:prstGeom>
          <a:solidFill>
            <a:srgbClr val="1E2761"/>
          </a:solidFill>
          <a:ln/>
        </p:spPr>
      </p:sp>
      <p:pic>
        <p:nvPicPr>
          <p:cNvPr id="7" name="Image 0" descr="/tmp/claude-0/-home-user-plugbits-plugins/8ace6739-6c8b-5dc3-ad00-7f049c58d65c/scratchpad/icons/FiCheckSquare_white.png">    </p:cNvPr>
          <p:cNvPicPr>
            <a:picLocks noChangeAspect="1"/>
          </p:cNvPicPr>
          <p:nvPr/>
        </p:nvPicPr>
        <p:blipFill>
          <a:blip r:embed="rId1"/>
          <a:stretch>
            <a:fillRect/>
          </a:stretch>
        </p:blipFill>
        <p:spPr>
          <a:xfrm>
            <a:off x="938174" y="2474366"/>
            <a:ext cx="281635" cy="281635"/>
          </a:xfrm>
          <a:prstGeom prst="rect">
            <a:avLst/>
          </a:prstGeom>
        </p:spPr>
      </p:pic>
      <p:sp>
        <p:nvSpPr>
          <p:cNvPr id="8" name="Text 5"/>
          <p:cNvSpPr/>
          <p:nvPr/>
        </p:nvSpPr>
        <p:spPr>
          <a:xfrm>
            <a:off x="1600200" y="2240280"/>
            <a:ext cx="9692640" cy="36576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インデックス状況チェック</a:t>
            </a:r>
            <a:endParaRPr lang="en-US" sz="1500" dirty="0"/>
          </a:p>
        </p:txBody>
      </p:sp>
      <p:sp>
        <p:nvSpPr>
          <p:cNvPr id="9" name="Text 6"/>
          <p:cNvSpPr/>
          <p:nvPr/>
        </p:nvSpPr>
        <p:spPr>
          <a:xfrm>
            <a:off x="1600200" y="2624328"/>
            <a:ext cx="9692640" cy="457200"/>
          </a:xfrm>
          <a:prstGeom prst="rect">
            <a:avLst/>
          </a:prstGeom>
          <a:noFill/>
          <a:ln/>
        </p:spPr>
        <p:txBody>
          <a:bodyPr wrap="square" lIns="0" tIns="0" rIns="0" bIns="0" rtlCol="0" anchor="ctr"/>
          <a:lstStyle/>
          <a:p>
            <a:pPr indent="0" marL="0">
              <a:buNone/>
            </a:pPr>
            <a:r>
              <a:rPr lang="en-US" sz="1250" dirty="0">
                <a:solidFill>
                  <a:srgbClr val="1A1F36"/>
                </a:solidFill>
                <a:latin typeface="Yu Gothic" pitchFamily="34" charset="0"/>
                <a:ea typeface="Yu Gothic" pitchFamily="34" charset="-122"/>
                <a:cs typeface="Yu Gothic" pitchFamily="34" charset="-120"/>
              </a:rPr>
              <a:t>未登録・要更新・孤児データを検知し、その場で修復</a:t>
            </a:r>
            <a:endParaRPr lang="en-US" sz="1250" dirty="0"/>
          </a:p>
        </p:txBody>
      </p:sp>
      <p:sp>
        <p:nvSpPr>
          <p:cNvPr id="10" name="Shape 7"/>
          <p:cNvSpPr/>
          <p:nvPr/>
        </p:nvSpPr>
        <p:spPr>
          <a:xfrm>
            <a:off x="548640" y="3429000"/>
            <a:ext cx="11064240" cy="1115568"/>
          </a:xfrm>
          <a:prstGeom prst="roundRect">
            <a:avLst>
              <a:gd name="adj" fmla="val 8197"/>
            </a:avLst>
          </a:prstGeom>
          <a:solidFill>
            <a:srgbClr val="F4F7FC"/>
          </a:solidFill>
          <a:ln/>
        </p:spPr>
      </p:sp>
      <p:sp>
        <p:nvSpPr>
          <p:cNvPr id="11" name="Shape 8"/>
          <p:cNvSpPr/>
          <p:nvPr/>
        </p:nvSpPr>
        <p:spPr>
          <a:xfrm>
            <a:off x="822960" y="3730752"/>
            <a:ext cx="512064" cy="512064"/>
          </a:xfrm>
          <a:prstGeom prst="ellipse">
            <a:avLst/>
          </a:prstGeom>
          <a:solidFill>
            <a:srgbClr val="1E2761"/>
          </a:solidFill>
          <a:ln/>
        </p:spPr>
      </p:sp>
      <p:pic>
        <p:nvPicPr>
          <p:cNvPr id="12" name="Image 1" descr="/tmp/claude-0/-home-user-plugbits-plugins/8ace6739-6c8b-5dc3-ad00-7f049c58d65c/scratchpad/icons/FiRefreshCw_white.png">    </p:cNvPr>
          <p:cNvPicPr>
            <a:picLocks noChangeAspect="1"/>
          </p:cNvPicPr>
          <p:nvPr/>
        </p:nvPicPr>
        <p:blipFill>
          <a:blip r:embed="rId2"/>
          <a:stretch>
            <a:fillRect/>
          </a:stretch>
        </p:blipFill>
        <p:spPr>
          <a:xfrm>
            <a:off x="938174" y="3845966"/>
            <a:ext cx="281635" cy="281635"/>
          </a:xfrm>
          <a:prstGeom prst="rect">
            <a:avLst/>
          </a:prstGeom>
        </p:spPr>
      </p:pic>
      <p:sp>
        <p:nvSpPr>
          <p:cNvPr id="13" name="Text 9"/>
          <p:cNvSpPr/>
          <p:nvPr/>
        </p:nvSpPr>
        <p:spPr>
          <a:xfrm>
            <a:off x="1600200" y="3611880"/>
            <a:ext cx="9692640" cy="36576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一括図面登録</a:t>
            </a:r>
            <a:endParaRPr lang="en-US" sz="1500" dirty="0"/>
          </a:p>
        </p:txBody>
      </p:sp>
      <p:sp>
        <p:nvSpPr>
          <p:cNvPr id="14" name="Text 10"/>
          <p:cNvSpPr/>
          <p:nvPr/>
        </p:nvSpPr>
        <p:spPr>
          <a:xfrm>
            <a:off x="1600200" y="3995928"/>
            <a:ext cx="9692640" cy="457200"/>
          </a:xfrm>
          <a:prstGeom prst="rect">
            <a:avLst/>
          </a:prstGeom>
          <a:noFill/>
          <a:ln/>
        </p:spPr>
        <p:txBody>
          <a:bodyPr wrap="square" lIns="0" tIns="0" rIns="0" bIns="0" rtlCol="0" anchor="ctr"/>
          <a:lstStyle/>
          <a:p>
            <a:pPr indent="0" marL="0">
              <a:buNone/>
            </a:pPr>
            <a:r>
              <a:rPr lang="en-US" sz="1250" dirty="0">
                <a:solidFill>
                  <a:srgbClr val="1A1F36"/>
                </a:solidFill>
                <a:latin typeface="Yu Gothic" pitchFamily="34" charset="0"/>
                <a:ea typeface="Yu Gothic" pitchFamily="34" charset="-122"/>
                <a:cs typeface="Yu Gothic" pitchFamily="34" charset="-120"/>
              </a:rPr>
              <a:t>既存レコードをまとめて検索対象化</a:t>
            </a:r>
            <a:endParaRPr lang="en-US" sz="1250" dirty="0"/>
          </a:p>
        </p:txBody>
      </p:sp>
      <p:sp>
        <p:nvSpPr>
          <p:cNvPr id="15" name="Shape 11"/>
          <p:cNvSpPr/>
          <p:nvPr/>
        </p:nvSpPr>
        <p:spPr>
          <a:xfrm>
            <a:off x="548640" y="4800600"/>
            <a:ext cx="11064240" cy="1115568"/>
          </a:xfrm>
          <a:prstGeom prst="roundRect">
            <a:avLst>
              <a:gd name="adj" fmla="val 8197"/>
            </a:avLst>
          </a:prstGeom>
          <a:solidFill>
            <a:srgbClr val="F4F7FC"/>
          </a:solidFill>
          <a:ln/>
        </p:spPr>
      </p:sp>
      <p:sp>
        <p:nvSpPr>
          <p:cNvPr id="16" name="Shape 12"/>
          <p:cNvSpPr/>
          <p:nvPr/>
        </p:nvSpPr>
        <p:spPr>
          <a:xfrm>
            <a:off x="822960" y="5102352"/>
            <a:ext cx="512064" cy="512064"/>
          </a:xfrm>
          <a:prstGeom prst="ellipse">
            <a:avLst/>
          </a:prstGeom>
          <a:solidFill>
            <a:srgbClr val="1E2761"/>
          </a:solidFill>
          <a:ln/>
        </p:spPr>
      </p:sp>
      <p:pic>
        <p:nvPicPr>
          <p:cNvPr id="17" name="Image 2" descr="/tmp/claude-0/-home-user-plugbits-plugins/8ace6739-6c8b-5dc3-ad00-7f049c58d65c/scratchpad/icons/FiFolder_white.png">    </p:cNvPr>
          <p:cNvPicPr>
            <a:picLocks noChangeAspect="1"/>
          </p:cNvPicPr>
          <p:nvPr/>
        </p:nvPicPr>
        <p:blipFill>
          <a:blip r:embed="rId3"/>
          <a:stretch>
            <a:fillRect/>
          </a:stretch>
        </p:blipFill>
        <p:spPr>
          <a:xfrm>
            <a:off x="938174" y="5217566"/>
            <a:ext cx="281635" cy="281635"/>
          </a:xfrm>
          <a:prstGeom prst="rect">
            <a:avLst/>
          </a:prstGeom>
        </p:spPr>
      </p:pic>
      <p:sp>
        <p:nvSpPr>
          <p:cNvPr id="18" name="Text 13"/>
          <p:cNvSpPr/>
          <p:nvPr/>
        </p:nvSpPr>
        <p:spPr>
          <a:xfrm>
            <a:off x="1600200" y="4983480"/>
            <a:ext cx="9692640" cy="365760"/>
          </a:xfrm>
          <a:prstGeom prst="rect">
            <a:avLst/>
          </a:prstGeom>
          <a:noFill/>
          <a:ln/>
        </p:spPr>
        <p:txBody>
          <a:bodyPr wrap="square" lIns="0" tIns="0" rIns="0" bIns="0" rtlCol="0" anchor="ctr"/>
          <a:lstStyle/>
          <a:p>
            <a:pPr indent="0" marL="0">
              <a:buNone/>
            </a:pPr>
            <a:r>
              <a:rPr lang="en-US" sz="1500" b="1" dirty="0">
                <a:solidFill>
                  <a:srgbClr val="1E2761"/>
                </a:solidFill>
                <a:latin typeface="Yu Gothic" pitchFamily="34" charset="0"/>
                <a:ea typeface="Yu Gothic" pitchFamily="34" charset="-122"/>
                <a:cs typeface="Yu Gothic" pitchFamily="34" charset="-120"/>
              </a:rPr>
              <a:t>過去図面アーカイブ取り込み</a:t>
            </a:r>
            <a:endParaRPr lang="en-US" sz="1500" dirty="0"/>
          </a:p>
        </p:txBody>
      </p:sp>
      <p:sp>
        <p:nvSpPr>
          <p:cNvPr id="19" name="Text 14"/>
          <p:cNvSpPr/>
          <p:nvPr/>
        </p:nvSpPr>
        <p:spPr>
          <a:xfrm>
            <a:off x="1600200" y="5367528"/>
            <a:ext cx="9692640" cy="457200"/>
          </a:xfrm>
          <a:prstGeom prst="rect">
            <a:avLst/>
          </a:prstGeom>
          <a:noFill/>
          <a:ln/>
        </p:spPr>
        <p:txBody>
          <a:bodyPr wrap="square" lIns="0" tIns="0" rIns="0" bIns="0" rtlCol="0" anchor="ctr"/>
          <a:lstStyle/>
          <a:p>
            <a:pPr indent="0" marL="0">
              <a:buNone/>
            </a:pPr>
            <a:r>
              <a:rPr lang="en-US" sz="1250" dirty="0">
                <a:solidFill>
                  <a:srgbClr val="1A1F36"/>
                </a:solidFill>
                <a:latin typeface="Yu Gothic" pitchFamily="34" charset="0"/>
                <a:ea typeface="Yu Gothic" pitchFamily="34" charset="-122"/>
                <a:cs typeface="Yu Gothic" pitchFamily="34" charset="-120"/>
              </a:rPr>
              <a:t>kintone未登録の過去図面も検索対象に（オプション）</a:t>
            </a:r>
            <a:endParaRPr lang="en-US" sz="1250" dirty="0"/>
          </a:p>
        </p:txBody>
      </p:sp>
      <p:sp>
        <p:nvSpPr>
          <p:cNvPr id="20" name="Text 15"/>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デモ：実際の画面でご覧いただきます</a:t>
            </a:r>
            <a:endParaRPr lang="en-US" sz="2900" dirty="0"/>
          </a:p>
        </p:txBody>
      </p:sp>
      <p:sp>
        <p:nvSpPr>
          <p:cNvPr id="3" name="Shape 1"/>
          <p:cNvSpPr/>
          <p:nvPr/>
        </p:nvSpPr>
        <p:spPr>
          <a:xfrm>
            <a:off x="548640" y="1691640"/>
            <a:ext cx="3200400" cy="548640"/>
          </a:xfrm>
          <a:prstGeom prst="roundRect">
            <a:avLst>
              <a:gd name="adj" fmla="val 50000"/>
            </a:avLst>
          </a:prstGeom>
          <a:solidFill>
            <a:srgbClr val="1E2761"/>
          </a:solidFill>
          <a:ln/>
        </p:spPr>
      </p:sp>
      <p:sp>
        <p:nvSpPr>
          <p:cNvPr id="4" name="Text 2"/>
          <p:cNvSpPr/>
          <p:nvPr/>
        </p:nvSpPr>
        <p:spPr>
          <a:xfrm>
            <a:off x="548640" y="1691640"/>
            <a:ext cx="32004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 類似検索</a:t>
            </a:r>
            <a:endParaRPr lang="en-US" sz="1400" dirty="0"/>
          </a:p>
        </p:txBody>
      </p:sp>
      <p:sp>
        <p:nvSpPr>
          <p:cNvPr id="5" name="Text 3"/>
          <p:cNvSpPr/>
          <p:nvPr/>
        </p:nvSpPr>
        <p:spPr>
          <a:xfrm>
            <a:off x="3749040" y="1691640"/>
            <a:ext cx="502920" cy="548640"/>
          </a:xfrm>
          <a:prstGeom prst="rect">
            <a:avLst/>
          </a:prstGeom>
          <a:noFill/>
          <a:ln/>
        </p:spPr>
        <p:txBody>
          <a:bodyPr wrap="square" lIns="0" tIns="0" rIns="0" bIns="0" rtlCol="0" anchor="ctr"/>
          <a:lstStyle/>
          <a:p>
            <a:pPr algn="ctr" indent="0" marL="0">
              <a:buNone/>
            </a:pPr>
            <a:r>
              <a:rPr lang="en-US" sz="1800" b="1" dirty="0">
                <a:solidFill>
                  <a:srgbClr val="E8833A"/>
                </a:solidFill>
                <a:latin typeface="Yu Gothic" pitchFamily="34" charset="0"/>
                <a:ea typeface="Yu Gothic" pitchFamily="34" charset="-122"/>
                <a:cs typeface="Yu Gothic" pitchFamily="34" charset="-120"/>
              </a:rPr>
              <a:t>→</a:t>
            </a:r>
            <a:endParaRPr lang="en-US" sz="1800" dirty="0"/>
          </a:p>
        </p:txBody>
      </p:sp>
      <p:sp>
        <p:nvSpPr>
          <p:cNvPr id="6" name="Shape 4"/>
          <p:cNvSpPr/>
          <p:nvPr/>
        </p:nvSpPr>
        <p:spPr>
          <a:xfrm>
            <a:off x="4251960" y="1691640"/>
            <a:ext cx="3200400" cy="548640"/>
          </a:xfrm>
          <a:prstGeom prst="roundRect">
            <a:avLst>
              <a:gd name="adj" fmla="val 50000"/>
            </a:avLst>
          </a:prstGeom>
          <a:solidFill>
            <a:srgbClr val="1E2761"/>
          </a:solidFill>
          <a:ln/>
        </p:spPr>
      </p:sp>
      <p:sp>
        <p:nvSpPr>
          <p:cNvPr id="7" name="Text 5"/>
          <p:cNvSpPr/>
          <p:nvPr/>
        </p:nvSpPr>
        <p:spPr>
          <a:xfrm>
            <a:off x="4251960" y="1691640"/>
            <a:ext cx="32004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 アップロード検索</a:t>
            </a:r>
            <a:endParaRPr lang="en-US" sz="1400" dirty="0"/>
          </a:p>
        </p:txBody>
      </p:sp>
      <p:sp>
        <p:nvSpPr>
          <p:cNvPr id="8" name="Text 6"/>
          <p:cNvSpPr/>
          <p:nvPr/>
        </p:nvSpPr>
        <p:spPr>
          <a:xfrm>
            <a:off x="7452360" y="1691640"/>
            <a:ext cx="502920" cy="548640"/>
          </a:xfrm>
          <a:prstGeom prst="rect">
            <a:avLst/>
          </a:prstGeom>
          <a:noFill/>
          <a:ln/>
        </p:spPr>
        <p:txBody>
          <a:bodyPr wrap="square" lIns="0" tIns="0" rIns="0" bIns="0" rtlCol="0" anchor="ctr"/>
          <a:lstStyle/>
          <a:p>
            <a:pPr algn="ctr" indent="0" marL="0">
              <a:buNone/>
            </a:pPr>
            <a:r>
              <a:rPr lang="en-US" sz="1800" b="1" dirty="0">
                <a:solidFill>
                  <a:srgbClr val="E8833A"/>
                </a:solidFill>
                <a:latin typeface="Yu Gothic" pitchFamily="34" charset="0"/>
                <a:ea typeface="Yu Gothic" pitchFamily="34" charset="-122"/>
                <a:cs typeface="Yu Gothic" pitchFamily="34" charset="-120"/>
              </a:rPr>
              <a:t>→</a:t>
            </a:r>
            <a:endParaRPr lang="en-US" sz="1800" dirty="0"/>
          </a:p>
        </p:txBody>
      </p:sp>
      <p:sp>
        <p:nvSpPr>
          <p:cNvPr id="9" name="Shape 7"/>
          <p:cNvSpPr/>
          <p:nvPr/>
        </p:nvSpPr>
        <p:spPr>
          <a:xfrm>
            <a:off x="7955280" y="1691640"/>
            <a:ext cx="3200400" cy="548640"/>
          </a:xfrm>
          <a:prstGeom prst="roundRect">
            <a:avLst>
              <a:gd name="adj" fmla="val 50000"/>
            </a:avLst>
          </a:prstGeom>
          <a:solidFill>
            <a:srgbClr val="1E2761"/>
          </a:solidFill>
          <a:ln/>
        </p:spPr>
      </p:sp>
      <p:sp>
        <p:nvSpPr>
          <p:cNvPr id="10" name="Text 8"/>
          <p:cNvSpPr/>
          <p:nvPr/>
        </p:nvSpPr>
        <p:spPr>
          <a:xfrm>
            <a:off x="7955280" y="1691640"/>
            <a:ext cx="32004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 OCR登録</a:t>
            </a:r>
            <a:endParaRPr lang="en-US" sz="1400" dirty="0"/>
          </a:p>
        </p:txBody>
      </p:sp>
      <p:sp>
        <p:nvSpPr>
          <p:cNvPr id="11" name="Shape 9"/>
          <p:cNvSpPr/>
          <p:nvPr/>
        </p:nvSpPr>
        <p:spPr>
          <a:xfrm>
            <a:off x="548640" y="2606040"/>
            <a:ext cx="11091672" cy="3566160"/>
          </a:xfrm>
          <a:prstGeom prst="roundRect">
            <a:avLst>
              <a:gd name="adj" fmla="val 3077"/>
            </a:avLst>
          </a:prstGeom>
          <a:solidFill>
            <a:srgbClr val="F4F7FC"/>
          </a:solidFill>
          <a:ln w="19050">
            <a:solidFill>
              <a:srgbClr val="CADCFC"/>
            </a:solidFill>
            <a:prstDash val="dash"/>
          </a:ln>
        </p:spPr>
      </p:sp>
      <p:sp>
        <p:nvSpPr>
          <p:cNvPr id="12" name="Shape 10"/>
          <p:cNvSpPr/>
          <p:nvPr/>
        </p:nvSpPr>
        <p:spPr>
          <a:xfrm>
            <a:off x="5774436" y="3886200"/>
            <a:ext cx="640080" cy="640080"/>
          </a:xfrm>
          <a:prstGeom prst="ellipse">
            <a:avLst/>
          </a:prstGeom>
          <a:solidFill>
            <a:srgbClr val="FFFFFF"/>
          </a:solidFill>
          <a:ln/>
        </p:spPr>
      </p:sp>
      <p:pic>
        <p:nvPicPr>
          <p:cNvPr id="13" name="Image 0" descr="/tmp/claude-0/-home-user-plugbits-plugins/8ace6739-6c8b-5dc3-ad00-7f049c58d65c/scratchpad/icons/FiImage_navy.png">    </p:cNvPr>
          <p:cNvPicPr>
            <a:picLocks noChangeAspect="1"/>
          </p:cNvPicPr>
          <p:nvPr/>
        </p:nvPicPr>
        <p:blipFill>
          <a:blip r:embed="rId1"/>
          <a:stretch>
            <a:fillRect/>
          </a:stretch>
        </p:blipFill>
        <p:spPr>
          <a:xfrm>
            <a:off x="5915254" y="4027018"/>
            <a:ext cx="358445" cy="358445"/>
          </a:xfrm>
          <a:prstGeom prst="rect">
            <a:avLst/>
          </a:prstGeom>
        </p:spPr>
      </p:pic>
      <p:sp>
        <p:nvSpPr>
          <p:cNvPr id="14" name="Text 11"/>
          <p:cNvSpPr/>
          <p:nvPr/>
        </p:nvSpPr>
        <p:spPr>
          <a:xfrm>
            <a:off x="822960" y="4617720"/>
            <a:ext cx="10543032" cy="365760"/>
          </a:xfrm>
          <a:prstGeom prst="rect">
            <a:avLst/>
          </a:prstGeom>
          <a:noFill/>
          <a:ln/>
        </p:spPr>
        <p:txBody>
          <a:bodyPr wrap="square" lIns="0" tIns="0" rIns="0" bIns="0" rtlCol="0" anchor="ctr"/>
          <a:lstStyle/>
          <a:p>
            <a:pPr algn="ctr" indent="0" marL="0">
              <a:buNone/>
            </a:pPr>
            <a:r>
              <a:rPr lang="en-US" sz="1100" dirty="0">
                <a:solidFill>
                  <a:srgbClr val="5A6478"/>
                </a:solidFill>
                <a:latin typeface="Yu Gothic" pitchFamily="34" charset="0"/>
                <a:ea typeface="Yu Gothic" pitchFamily="34" charset="-122"/>
                <a:cs typeface="Yu Gothic" pitchFamily="34" charset="-120"/>
              </a:rPr>
              <a:t>画面イメージ（スクリーンショット差し替え／実機デモ）</a:t>
            </a:r>
            <a:endParaRPr lang="en-US" sz="1100" dirty="0"/>
          </a:p>
        </p:txBody>
      </p:sp>
      <p:sp>
        <p:nvSpPr>
          <p:cNvPr id="15" name="Text 12"/>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仕組み：どうやって似た図面を見つけているか</a:t>
            </a:r>
            <a:endParaRPr lang="en-US" sz="2900" dirty="0"/>
          </a:p>
        </p:txBody>
      </p:sp>
      <p:sp>
        <p:nvSpPr>
          <p:cNvPr id="3" name="Shape 1"/>
          <p:cNvSpPr/>
          <p:nvPr/>
        </p:nvSpPr>
        <p:spPr>
          <a:xfrm>
            <a:off x="548640" y="1691640"/>
            <a:ext cx="2651760" cy="777240"/>
          </a:xfrm>
          <a:prstGeom prst="roundRect">
            <a:avLst>
              <a:gd name="adj" fmla="val 11765"/>
            </a:avLst>
          </a:prstGeom>
          <a:solidFill>
            <a:srgbClr val="F4F7FC"/>
          </a:solidFill>
          <a:ln/>
        </p:spPr>
      </p:sp>
      <p:sp>
        <p:nvSpPr>
          <p:cNvPr id="4" name="Text 2"/>
          <p:cNvSpPr/>
          <p:nvPr/>
        </p:nvSpPr>
        <p:spPr>
          <a:xfrm>
            <a:off x="685800" y="1783080"/>
            <a:ext cx="237744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Yu Gothic" pitchFamily="34" charset="0"/>
                <a:ea typeface="Yu Gothic" pitchFamily="34" charset="-122"/>
                <a:cs typeface="Yu Gothic" pitchFamily="34" charset="-120"/>
              </a:rPr>
              <a:t>kintone</a:t>
            </a:r>
            <a:endParaRPr lang="en-US" sz="1300" dirty="0"/>
          </a:p>
        </p:txBody>
      </p:sp>
      <p:sp>
        <p:nvSpPr>
          <p:cNvPr id="5" name="Text 3"/>
          <p:cNvSpPr/>
          <p:nvPr/>
        </p:nvSpPr>
        <p:spPr>
          <a:xfrm>
            <a:off x="685800" y="2112264"/>
            <a:ext cx="2377440" cy="320040"/>
          </a:xfrm>
          <a:prstGeom prst="rect">
            <a:avLst/>
          </a:prstGeom>
          <a:noFill/>
          <a:ln/>
        </p:spPr>
        <p:txBody>
          <a:bodyPr wrap="square" lIns="0" tIns="0" rIns="0" bIns="0" rtlCol="0" anchor="ctr"/>
          <a:lstStyle/>
          <a:p>
            <a:pPr algn="ctr" indent="0" marL="0">
              <a:buNone/>
            </a:pPr>
            <a:r>
              <a:rPr lang="en-US" sz="1000" dirty="0">
                <a:solidFill>
                  <a:srgbClr val="1E2761"/>
                </a:solidFill>
                <a:latin typeface="Yu Gothic" pitchFamily="34" charset="0"/>
                <a:ea typeface="Yu Gothic" pitchFamily="34" charset="-122"/>
                <a:cs typeface="Yu Gothic" pitchFamily="34" charset="-120"/>
              </a:rPr>
              <a:t>（貴社の図面台帳）</a:t>
            </a:r>
            <a:endParaRPr lang="en-US" sz="1000" dirty="0"/>
          </a:p>
        </p:txBody>
      </p:sp>
      <p:sp>
        <p:nvSpPr>
          <p:cNvPr id="6" name="Shape 4"/>
          <p:cNvSpPr/>
          <p:nvPr/>
        </p:nvSpPr>
        <p:spPr>
          <a:xfrm>
            <a:off x="4617720" y="1691640"/>
            <a:ext cx="2926080" cy="777240"/>
          </a:xfrm>
          <a:prstGeom prst="roundRect">
            <a:avLst>
              <a:gd name="adj" fmla="val 11765"/>
            </a:avLst>
          </a:prstGeom>
          <a:solidFill>
            <a:srgbClr val="1E2761"/>
          </a:solidFill>
          <a:ln/>
        </p:spPr>
      </p:sp>
      <p:sp>
        <p:nvSpPr>
          <p:cNvPr id="7" name="Text 5"/>
          <p:cNvSpPr/>
          <p:nvPr/>
        </p:nvSpPr>
        <p:spPr>
          <a:xfrm>
            <a:off x="4754880" y="1783080"/>
            <a:ext cx="2651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類似検索AI</a:t>
            </a:r>
            <a:endParaRPr lang="en-US" sz="1300" dirty="0"/>
          </a:p>
        </p:txBody>
      </p:sp>
      <p:sp>
        <p:nvSpPr>
          <p:cNvPr id="8" name="Text 6"/>
          <p:cNvSpPr/>
          <p:nvPr/>
        </p:nvSpPr>
        <p:spPr>
          <a:xfrm>
            <a:off x="4754880" y="2112264"/>
            <a:ext cx="265176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Yu Gothic" pitchFamily="34" charset="0"/>
                <a:ea typeface="Yu Gothic" pitchFamily="34" charset="-122"/>
                <a:cs typeface="Yu Gothic" pitchFamily="34" charset="-120"/>
              </a:rPr>
              <a:t>（クラウド）</a:t>
            </a:r>
            <a:endParaRPr lang="en-US" sz="1000" dirty="0"/>
          </a:p>
        </p:txBody>
      </p:sp>
      <p:sp>
        <p:nvSpPr>
          <p:cNvPr id="9" name="Shape 7"/>
          <p:cNvSpPr/>
          <p:nvPr/>
        </p:nvSpPr>
        <p:spPr>
          <a:xfrm>
            <a:off x="8961120" y="1691640"/>
            <a:ext cx="2651760" cy="777240"/>
          </a:xfrm>
          <a:prstGeom prst="roundRect">
            <a:avLst>
              <a:gd name="adj" fmla="val 11765"/>
            </a:avLst>
          </a:prstGeom>
          <a:solidFill>
            <a:srgbClr val="F4F7FC"/>
          </a:solidFill>
          <a:ln/>
        </p:spPr>
      </p:sp>
      <p:sp>
        <p:nvSpPr>
          <p:cNvPr id="10" name="Text 8"/>
          <p:cNvSpPr/>
          <p:nvPr/>
        </p:nvSpPr>
        <p:spPr>
          <a:xfrm>
            <a:off x="9098280" y="1783080"/>
            <a:ext cx="2377440" cy="365760"/>
          </a:xfrm>
          <a:prstGeom prst="rect">
            <a:avLst/>
          </a:prstGeom>
          <a:noFill/>
          <a:ln/>
        </p:spPr>
        <p:txBody>
          <a:bodyPr wrap="square" lIns="0" tIns="0" rIns="0" bIns="0" rtlCol="0" anchor="ctr"/>
          <a:lstStyle/>
          <a:p>
            <a:pPr algn="ctr" indent="0" marL="0">
              <a:buNone/>
            </a:pPr>
            <a:r>
              <a:rPr lang="en-US" sz="1300" b="1" dirty="0">
                <a:solidFill>
                  <a:srgbClr val="1E2761"/>
                </a:solidFill>
                <a:latin typeface="Yu Gothic" pitchFamily="34" charset="0"/>
                <a:ea typeface="Yu Gothic" pitchFamily="34" charset="-122"/>
                <a:cs typeface="Yu Gothic" pitchFamily="34" charset="-120"/>
              </a:rPr>
              <a:t>検索結果</a:t>
            </a:r>
            <a:endParaRPr lang="en-US" sz="1300" dirty="0"/>
          </a:p>
        </p:txBody>
      </p:sp>
      <p:sp>
        <p:nvSpPr>
          <p:cNvPr id="11" name="Text 9"/>
          <p:cNvSpPr/>
          <p:nvPr/>
        </p:nvSpPr>
        <p:spPr>
          <a:xfrm>
            <a:off x="9098280" y="2112264"/>
            <a:ext cx="2377440" cy="320040"/>
          </a:xfrm>
          <a:prstGeom prst="rect">
            <a:avLst/>
          </a:prstGeom>
          <a:noFill/>
          <a:ln/>
        </p:spPr>
        <p:txBody>
          <a:bodyPr wrap="square" lIns="0" tIns="0" rIns="0" bIns="0" rtlCol="0" anchor="ctr"/>
          <a:lstStyle/>
          <a:p>
            <a:pPr algn="ctr" indent="0" marL="0">
              <a:buNone/>
            </a:pPr>
            <a:r>
              <a:rPr lang="en-US" sz="1000" dirty="0">
                <a:solidFill>
                  <a:srgbClr val="1E2761"/>
                </a:solidFill>
                <a:latin typeface="Yu Gothic" pitchFamily="34" charset="0"/>
                <a:ea typeface="Yu Gothic" pitchFamily="34" charset="-122"/>
                <a:cs typeface="Yu Gothic" pitchFamily="34" charset="-120"/>
              </a:rPr>
              <a:t>スコア順に表示</a:t>
            </a:r>
            <a:endParaRPr lang="en-US" sz="1000" dirty="0"/>
          </a:p>
        </p:txBody>
      </p:sp>
      <p:sp>
        <p:nvSpPr>
          <p:cNvPr id="12" name="Shape 10"/>
          <p:cNvSpPr/>
          <p:nvPr/>
        </p:nvSpPr>
        <p:spPr>
          <a:xfrm>
            <a:off x="3255264" y="2080260"/>
            <a:ext cx="1307592" cy="0"/>
          </a:xfrm>
          <a:prstGeom prst="line">
            <a:avLst/>
          </a:prstGeom>
          <a:noFill/>
          <a:ln w="28575">
            <a:solidFill>
              <a:srgbClr val="E8833A"/>
            </a:solidFill>
            <a:prstDash val="solid"/>
            <a:tailEnd type="triangle"/>
          </a:ln>
        </p:spPr>
      </p:sp>
      <p:sp>
        <p:nvSpPr>
          <p:cNvPr id="13" name="Shape 11"/>
          <p:cNvSpPr/>
          <p:nvPr/>
        </p:nvSpPr>
        <p:spPr>
          <a:xfrm>
            <a:off x="7598664" y="2080260"/>
            <a:ext cx="1307592" cy="0"/>
          </a:xfrm>
          <a:prstGeom prst="line">
            <a:avLst/>
          </a:prstGeom>
          <a:noFill/>
          <a:ln w="28575">
            <a:solidFill>
              <a:srgbClr val="E8833A"/>
            </a:solidFill>
            <a:prstDash val="solid"/>
            <a:tailEnd type="triangle"/>
          </a:ln>
        </p:spPr>
      </p:sp>
      <p:sp>
        <p:nvSpPr>
          <p:cNvPr id="14" name="Shape 12"/>
          <p:cNvSpPr/>
          <p:nvPr/>
        </p:nvSpPr>
        <p:spPr>
          <a:xfrm>
            <a:off x="6080760" y="2468880"/>
            <a:ext cx="0" cy="594360"/>
          </a:xfrm>
          <a:prstGeom prst="line">
            <a:avLst/>
          </a:prstGeom>
          <a:noFill/>
          <a:ln w="28575">
            <a:solidFill>
              <a:srgbClr val="E8833A"/>
            </a:solidFill>
            <a:prstDash val="solid"/>
            <a:tailEnd type="triangle"/>
          </a:ln>
        </p:spPr>
      </p:sp>
      <p:sp>
        <p:nvSpPr>
          <p:cNvPr id="15" name="Shape 13"/>
          <p:cNvSpPr/>
          <p:nvPr/>
        </p:nvSpPr>
        <p:spPr>
          <a:xfrm>
            <a:off x="928116" y="3063240"/>
            <a:ext cx="3200400" cy="1737360"/>
          </a:xfrm>
          <a:prstGeom prst="roundRect">
            <a:avLst>
              <a:gd name="adj" fmla="val 5263"/>
            </a:avLst>
          </a:prstGeom>
          <a:solidFill>
            <a:srgbClr val="F4F7FC"/>
          </a:solidFill>
          <a:ln/>
        </p:spPr>
      </p:sp>
      <p:sp>
        <p:nvSpPr>
          <p:cNvPr id="16" name="Shape 14"/>
          <p:cNvSpPr/>
          <p:nvPr/>
        </p:nvSpPr>
        <p:spPr>
          <a:xfrm>
            <a:off x="2235708" y="3319272"/>
            <a:ext cx="585216" cy="585216"/>
          </a:xfrm>
          <a:prstGeom prst="ellipse">
            <a:avLst/>
          </a:prstGeom>
          <a:solidFill>
            <a:srgbClr val="1E2761"/>
          </a:solidFill>
          <a:ln/>
        </p:spPr>
      </p:sp>
      <p:pic>
        <p:nvPicPr>
          <p:cNvPr id="17" name="Image 0" descr="/tmp/claude-0/-home-user-plugbits-plugins/8ace6739-6c8b-5dc3-ad00-7f049c58d65c/scratchpad/icons/FiImage_white.png">    </p:cNvPr>
          <p:cNvPicPr>
            <a:picLocks noChangeAspect="1"/>
          </p:cNvPicPr>
          <p:nvPr/>
        </p:nvPicPr>
        <p:blipFill>
          <a:blip r:embed="rId1"/>
          <a:stretch>
            <a:fillRect/>
          </a:stretch>
        </p:blipFill>
        <p:spPr>
          <a:xfrm>
            <a:off x="2367382" y="3450946"/>
            <a:ext cx="321869" cy="321869"/>
          </a:xfrm>
          <a:prstGeom prst="rect">
            <a:avLst/>
          </a:prstGeom>
        </p:spPr>
      </p:pic>
      <p:sp>
        <p:nvSpPr>
          <p:cNvPr id="18" name="Text 15"/>
          <p:cNvSpPr/>
          <p:nvPr/>
        </p:nvSpPr>
        <p:spPr>
          <a:xfrm>
            <a:off x="1065276" y="4069080"/>
            <a:ext cx="2926080" cy="548640"/>
          </a:xfrm>
          <a:prstGeom prst="rect">
            <a:avLst/>
          </a:prstGeom>
          <a:noFill/>
          <a:ln/>
        </p:spPr>
        <p:txBody>
          <a:bodyPr wrap="square" lIns="0" tIns="0" rIns="0" bIns="0" rtlCol="0" anchor="t"/>
          <a:lstStyle/>
          <a:p>
            <a:pPr algn="ctr" indent="0" marL="0">
              <a:buNone/>
            </a:pPr>
            <a:r>
              <a:rPr lang="en-US" sz="1400" b="1" dirty="0">
                <a:solidFill>
                  <a:srgbClr val="1E2761"/>
                </a:solidFill>
                <a:latin typeface="Yu Gothic" pitchFamily="34" charset="0"/>
                <a:ea typeface="Yu Gothic" pitchFamily="34" charset="-122"/>
                <a:cs typeface="Yu Gothic" pitchFamily="34" charset="-120"/>
              </a:rPr>
              <a:t>画像の特徴</a:t>
            </a:r>
            <a:endParaRPr lang="en-US" sz="1400" dirty="0"/>
          </a:p>
        </p:txBody>
      </p:sp>
      <p:sp>
        <p:nvSpPr>
          <p:cNvPr id="19" name="Shape 16"/>
          <p:cNvSpPr/>
          <p:nvPr/>
        </p:nvSpPr>
        <p:spPr>
          <a:xfrm>
            <a:off x="4494276" y="3063240"/>
            <a:ext cx="3200400" cy="1737360"/>
          </a:xfrm>
          <a:prstGeom prst="roundRect">
            <a:avLst>
              <a:gd name="adj" fmla="val 5263"/>
            </a:avLst>
          </a:prstGeom>
          <a:solidFill>
            <a:srgbClr val="F4F7FC"/>
          </a:solidFill>
          <a:ln/>
        </p:spPr>
      </p:sp>
      <p:sp>
        <p:nvSpPr>
          <p:cNvPr id="20" name="Shape 17"/>
          <p:cNvSpPr/>
          <p:nvPr/>
        </p:nvSpPr>
        <p:spPr>
          <a:xfrm>
            <a:off x="5801868" y="3319272"/>
            <a:ext cx="585216" cy="585216"/>
          </a:xfrm>
          <a:prstGeom prst="ellipse">
            <a:avLst/>
          </a:prstGeom>
          <a:solidFill>
            <a:srgbClr val="1E2761"/>
          </a:solidFill>
          <a:ln/>
        </p:spPr>
      </p:sp>
      <p:pic>
        <p:nvPicPr>
          <p:cNvPr id="21" name="Image 1" descr="/tmp/claude-0/-home-user-plugbits-plugins/8ace6739-6c8b-5dc3-ad00-7f049c58d65c/scratchpad/icons/FiType_white.png">    </p:cNvPr>
          <p:cNvPicPr>
            <a:picLocks noChangeAspect="1"/>
          </p:cNvPicPr>
          <p:nvPr/>
        </p:nvPicPr>
        <p:blipFill>
          <a:blip r:embed="rId2"/>
          <a:stretch>
            <a:fillRect/>
          </a:stretch>
        </p:blipFill>
        <p:spPr>
          <a:xfrm>
            <a:off x="5933542" y="3450946"/>
            <a:ext cx="321869" cy="321869"/>
          </a:xfrm>
          <a:prstGeom prst="rect">
            <a:avLst/>
          </a:prstGeom>
        </p:spPr>
      </p:pic>
      <p:sp>
        <p:nvSpPr>
          <p:cNvPr id="22" name="Text 18"/>
          <p:cNvSpPr/>
          <p:nvPr/>
        </p:nvSpPr>
        <p:spPr>
          <a:xfrm>
            <a:off x="4631436" y="4069080"/>
            <a:ext cx="2926080" cy="548640"/>
          </a:xfrm>
          <a:prstGeom prst="rect">
            <a:avLst/>
          </a:prstGeom>
          <a:noFill/>
          <a:ln/>
        </p:spPr>
        <p:txBody>
          <a:bodyPr wrap="square" lIns="0" tIns="0" rIns="0" bIns="0" rtlCol="0" anchor="t"/>
          <a:lstStyle/>
          <a:p>
            <a:pPr algn="ctr" indent="0" marL="0">
              <a:buNone/>
            </a:pPr>
            <a:r>
              <a:rPr lang="en-US" sz="1400" b="1" dirty="0">
                <a:solidFill>
                  <a:srgbClr val="1E2761"/>
                </a:solidFill>
                <a:latin typeface="Yu Gothic" pitchFamily="34" charset="0"/>
                <a:ea typeface="Yu Gothic" pitchFamily="34" charset="-122"/>
                <a:cs typeface="Yu Gothic" pitchFamily="34" charset="-120"/>
              </a:rPr>
              <a:t>文字情報（OCR）</a:t>
            </a:r>
            <a:endParaRPr lang="en-US" sz="1400" dirty="0"/>
          </a:p>
        </p:txBody>
      </p:sp>
      <p:sp>
        <p:nvSpPr>
          <p:cNvPr id="23" name="Shape 19"/>
          <p:cNvSpPr/>
          <p:nvPr/>
        </p:nvSpPr>
        <p:spPr>
          <a:xfrm>
            <a:off x="8060436" y="3063240"/>
            <a:ext cx="3200400" cy="1737360"/>
          </a:xfrm>
          <a:prstGeom prst="roundRect">
            <a:avLst>
              <a:gd name="adj" fmla="val 5263"/>
            </a:avLst>
          </a:prstGeom>
          <a:solidFill>
            <a:srgbClr val="F4F7FC"/>
          </a:solidFill>
          <a:ln/>
        </p:spPr>
      </p:sp>
      <p:sp>
        <p:nvSpPr>
          <p:cNvPr id="24" name="Shape 20"/>
          <p:cNvSpPr/>
          <p:nvPr/>
        </p:nvSpPr>
        <p:spPr>
          <a:xfrm>
            <a:off x="9368028" y="3319272"/>
            <a:ext cx="585216" cy="585216"/>
          </a:xfrm>
          <a:prstGeom prst="ellipse">
            <a:avLst/>
          </a:prstGeom>
          <a:solidFill>
            <a:srgbClr val="1E2761"/>
          </a:solidFill>
          <a:ln/>
        </p:spPr>
      </p:sp>
      <p:pic>
        <p:nvPicPr>
          <p:cNvPr id="25" name="Image 2" descr="/tmp/claude-0/-home-user-plugbits-plugins/8ace6739-6c8b-5dc3-ad00-7f049c58d65c/scratchpad/icons/FiHexagon_white.png">    </p:cNvPr>
          <p:cNvPicPr>
            <a:picLocks noChangeAspect="1"/>
          </p:cNvPicPr>
          <p:nvPr/>
        </p:nvPicPr>
        <p:blipFill>
          <a:blip r:embed="rId3"/>
          <a:stretch>
            <a:fillRect/>
          </a:stretch>
        </p:blipFill>
        <p:spPr>
          <a:xfrm>
            <a:off x="9499702" y="3450946"/>
            <a:ext cx="321869" cy="321869"/>
          </a:xfrm>
          <a:prstGeom prst="rect">
            <a:avLst/>
          </a:prstGeom>
        </p:spPr>
      </p:pic>
      <p:sp>
        <p:nvSpPr>
          <p:cNvPr id="26" name="Text 21"/>
          <p:cNvSpPr/>
          <p:nvPr/>
        </p:nvSpPr>
        <p:spPr>
          <a:xfrm>
            <a:off x="8197596" y="4069080"/>
            <a:ext cx="2926080" cy="548640"/>
          </a:xfrm>
          <a:prstGeom prst="rect">
            <a:avLst/>
          </a:prstGeom>
          <a:noFill/>
          <a:ln/>
        </p:spPr>
        <p:txBody>
          <a:bodyPr wrap="square" lIns="0" tIns="0" rIns="0" bIns="0" rtlCol="0" anchor="t"/>
          <a:lstStyle/>
          <a:p>
            <a:pPr algn="ctr" indent="0" marL="0">
              <a:buNone/>
            </a:pPr>
            <a:r>
              <a:rPr lang="en-US" sz="1400" b="1" dirty="0">
                <a:solidFill>
                  <a:srgbClr val="1E2761"/>
                </a:solidFill>
                <a:latin typeface="Yu Gothic" pitchFamily="34" charset="0"/>
                <a:ea typeface="Yu Gothic" pitchFamily="34" charset="-122"/>
                <a:cs typeface="Yu Gothic" pitchFamily="34" charset="-120"/>
              </a:rPr>
              <a:t>外形形状</a:t>
            </a:r>
            <a:endParaRPr lang="en-US" sz="1400" dirty="0"/>
          </a:p>
        </p:txBody>
      </p:sp>
      <p:sp>
        <p:nvSpPr>
          <p:cNvPr id="27" name="Shape 22"/>
          <p:cNvSpPr/>
          <p:nvPr/>
        </p:nvSpPr>
        <p:spPr>
          <a:xfrm>
            <a:off x="928116" y="5166360"/>
            <a:ext cx="10332720" cy="685800"/>
          </a:xfrm>
          <a:prstGeom prst="roundRect">
            <a:avLst>
              <a:gd name="adj" fmla="val 13333"/>
            </a:avLst>
          </a:prstGeom>
          <a:solidFill>
            <a:srgbClr val="E8833A"/>
          </a:solidFill>
          <a:ln/>
        </p:spPr>
      </p:sp>
      <p:sp>
        <p:nvSpPr>
          <p:cNvPr id="28" name="Text 23"/>
          <p:cNvSpPr/>
          <p:nvPr/>
        </p:nvSpPr>
        <p:spPr>
          <a:xfrm>
            <a:off x="928116" y="5166360"/>
            <a:ext cx="1033272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3つの観点を組み合わせ、総合スコアで検索結果を返す</a:t>
            </a:r>
            <a:endParaRPr lang="en-US" sz="1400" dirty="0"/>
          </a:p>
        </p:txBody>
      </p:sp>
      <p:sp>
        <p:nvSpPr>
          <p:cNvPr id="29" name="Shape 24"/>
          <p:cNvSpPr/>
          <p:nvPr/>
        </p:nvSpPr>
        <p:spPr>
          <a:xfrm>
            <a:off x="6094476" y="4800600"/>
            <a:ext cx="0" cy="365760"/>
          </a:xfrm>
          <a:prstGeom prst="line">
            <a:avLst/>
          </a:prstGeom>
          <a:noFill/>
          <a:ln w="28575">
            <a:solidFill>
              <a:srgbClr val="E8833A"/>
            </a:solidFill>
            <a:prstDash val="solid"/>
            <a:tailEnd type="triangle"/>
          </a:ln>
        </p:spPr>
      </p:sp>
      <p:sp>
        <p:nvSpPr>
          <p:cNvPr id="30" name="Text 25"/>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データの取り扱い</a:t>
            </a:r>
            <a:endParaRPr lang="en-US" sz="2900" dirty="0"/>
          </a:p>
        </p:txBody>
      </p:sp>
      <p:sp>
        <p:nvSpPr>
          <p:cNvPr id="3" name="Shape 1"/>
          <p:cNvSpPr/>
          <p:nvPr/>
        </p:nvSpPr>
        <p:spPr>
          <a:xfrm>
            <a:off x="548640" y="1691640"/>
            <a:ext cx="2615184" cy="3840480"/>
          </a:xfrm>
          <a:prstGeom prst="roundRect">
            <a:avLst>
              <a:gd name="adj" fmla="val 3497"/>
            </a:avLst>
          </a:prstGeom>
          <a:solidFill>
            <a:srgbClr val="F4F7FC"/>
          </a:solidFill>
          <a:ln/>
          <a:effectLst>
            <a:outerShdw sx="100000" sy="100000" kx="0" ky="0" algn="bl" rotWithShape="0" blurRad="101600" dist="25400" dir="5400000">
              <a:srgbClr val="1E2761">
                <a:alpha val="12000"/>
              </a:srgbClr>
            </a:outerShdw>
          </a:effectLst>
        </p:spPr>
      </p:sp>
      <p:sp>
        <p:nvSpPr>
          <p:cNvPr id="4" name="Shape 2"/>
          <p:cNvSpPr/>
          <p:nvPr/>
        </p:nvSpPr>
        <p:spPr>
          <a:xfrm>
            <a:off x="804672" y="1929384"/>
            <a:ext cx="512064" cy="512064"/>
          </a:xfrm>
          <a:prstGeom prst="ellipse">
            <a:avLst/>
          </a:prstGeom>
          <a:solidFill>
            <a:srgbClr val="1E2761"/>
          </a:solidFill>
          <a:ln/>
        </p:spPr>
      </p:sp>
      <p:pic>
        <p:nvPicPr>
          <p:cNvPr id="5" name="Image 0" descr="/tmp/claude-0/-home-user-plugbits-plugins/8ace6739-6c8b-5dc3-ad00-7f049c58d65c/scratchpad/icons/FiHardDrive_white.png">    </p:cNvPr>
          <p:cNvPicPr>
            <a:picLocks noChangeAspect="1"/>
          </p:cNvPicPr>
          <p:nvPr/>
        </p:nvPicPr>
        <p:blipFill>
          <a:blip r:embed="rId1"/>
          <a:stretch>
            <a:fillRect/>
          </a:stretch>
        </p:blipFill>
        <p:spPr>
          <a:xfrm>
            <a:off x="919886" y="2044598"/>
            <a:ext cx="281635" cy="281635"/>
          </a:xfrm>
          <a:prstGeom prst="rect">
            <a:avLst/>
          </a:prstGeom>
        </p:spPr>
      </p:pic>
      <p:sp>
        <p:nvSpPr>
          <p:cNvPr id="6" name="Text 3"/>
          <p:cNvSpPr/>
          <p:nvPr/>
        </p:nvSpPr>
        <p:spPr>
          <a:xfrm>
            <a:off x="804672" y="2551176"/>
            <a:ext cx="2103120" cy="320040"/>
          </a:xfrm>
          <a:prstGeom prst="rect">
            <a:avLst/>
          </a:prstGeom>
          <a:noFill/>
          <a:ln/>
        </p:spPr>
        <p:txBody>
          <a:bodyPr wrap="square" lIns="0" tIns="0" rIns="0" bIns="0" rtlCol="0" anchor="ctr"/>
          <a:lstStyle/>
          <a:p>
            <a:pPr indent="0" marL="0">
              <a:buNone/>
            </a:pPr>
            <a:r>
              <a:rPr lang="en-US" sz="1350" b="1" dirty="0">
                <a:solidFill>
                  <a:srgbClr val="1E2761"/>
                </a:solidFill>
                <a:latin typeface="Yu Gothic" pitchFamily="34" charset="0"/>
                <a:ea typeface="Yu Gothic" pitchFamily="34" charset="-122"/>
                <a:cs typeface="Yu Gothic" pitchFamily="34" charset="-120"/>
              </a:rPr>
              <a:t>原本は動かしません</a:t>
            </a:r>
            <a:endParaRPr lang="en-US" sz="1350" dirty="0"/>
          </a:p>
        </p:txBody>
      </p:sp>
      <p:sp>
        <p:nvSpPr>
          <p:cNvPr id="7" name="Text 4"/>
          <p:cNvSpPr/>
          <p:nvPr/>
        </p:nvSpPr>
        <p:spPr>
          <a:xfrm>
            <a:off x="804672" y="2898648"/>
            <a:ext cx="2103120" cy="2450592"/>
          </a:xfrm>
          <a:prstGeom prst="rect">
            <a:avLst/>
          </a:prstGeom>
          <a:noFill/>
          <a:ln/>
        </p:spPr>
        <p:txBody>
          <a:bodyPr wrap="square" lIns="0" tIns="0" rIns="0" bIns="0" rtlCol="0" anchor="t"/>
          <a:lstStyle/>
          <a:p>
            <a:pPr indent="0" marL="0">
              <a:lnSpc>
                <a:spcPct val="118000"/>
              </a:lnSpc>
              <a:buNone/>
            </a:pPr>
            <a:r>
              <a:rPr lang="en-US" sz="1100" dirty="0">
                <a:solidFill>
                  <a:srgbClr val="1A1F36"/>
                </a:solidFill>
                <a:latin typeface="Yu Gothic" pitchFamily="34" charset="0"/>
                <a:ea typeface="Yu Gothic" pitchFamily="34" charset="-122"/>
                <a:cs typeface="Yu Gothic" pitchFamily="34" charset="-120"/>
              </a:rPr>
              <a:t>図面PDFの原本は貴社のkintoneに置いたまま。当方が保持するのは検索用の特徴データと抽出テキストのみです。</a:t>
            </a:r>
            <a:endParaRPr lang="en-US" sz="1100" dirty="0"/>
          </a:p>
        </p:txBody>
      </p:sp>
      <p:sp>
        <p:nvSpPr>
          <p:cNvPr id="8" name="Shape 5"/>
          <p:cNvSpPr/>
          <p:nvPr/>
        </p:nvSpPr>
        <p:spPr>
          <a:xfrm>
            <a:off x="3383280" y="1691640"/>
            <a:ext cx="2615184" cy="3840480"/>
          </a:xfrm>
          <a:prstGeom prst="roundRect">
            <a:avLst>
              <a:gd name="adj" fmla="val 3497"/>
            </a:avLst>
          </a:prstGeom>
          <a:solidFill>
            <a:srgbClr val="F4F7FC"/>
          </a:solidFill>
          <a:ln/>
          <a:effectLst>
            <a:outerShdw sx="100000" sy="100000" kx="0" ky="0" algn="bl" rotWithShape="0" blurRad="101600" dist="25400" dir="5400000">
              <a:srgbClr val="1E2761">
                <a:alpha val="12000"/>
              </a:srgbClr>
            </a:outerShdw>
          </a:effectLst>
        </p:spPr>
      </p:sp>
      <p:sp>
        <p:nvSpPr>
          <p:cNvPr id="9" name="Shape 6"/>
          <p:cNvSpPr/>
          <p:nvPr/>
        </p:nvSpPr>
        <p:spPr>
          <a:xfrm>
            <a:off x="3639312" y="1929384"/>
            <a:ext cx="512064" cy="512064"/>
          </a:xfrm>
          <a:prstGeom prst="ellipse">
            <a:avLst/>
          </a:prstGeom>
          <a:solidFill>
            <a:srgbClr val="1E2761"/>
          </a:solidFill>
          <a:ln/>
        </p:spPr>
      </p:sp>
      <p:pic>
        <p:nvPicPr>
          <p:cNvPr id="10" name="Image 1" descr="/tmp/claude-0/-home-user-plugbits-plugins/8ace6739-6c8b-5dc3-ad00-7f049c58d65c/scratchpad/icons/FiLayers_white.png">    </p:cNvPr>
          <p:cNvPicPr>
            <a:picLocks noChangeAspect="1"/>
          </p:cNvPicPr>
          <p:nvPr/>
        </p:nvPicPr>
        <p:blipFill>
          <a:blip r:embed="rId2"/>
          <a:stretch>
            <a:fillRect/>
          </a:stretch>
        </p:blipFill>
        <p:spPr>
          <a:xfrm>
            <a:off x="3754526" y="2044598"/>
            <a:ext cx="281635" cy="281635"/>
          </a:xfrm>
          <a:prstGeom prst="rect">
            <a:avLst/>
          </a:prstGeom>
        </p:spPr>
      </p:pic>
      <p:sp>
        <p:nvSpPr>
          <p:cNvPr id="11" name="Text 7"/>
          <p:cNvSpPr/>
          <p:nvPr/>
        </p:nvSpPr>
        <p:spPr>
          <a:xfrm>
            <a:off x="3639312" y="2551176"/>
            <a:ext cx="2103120" cy="320040"/>
          </a:xfrm>
          <a:prstGeom prst="rect">
            <a:avLst/>
          </a:prstGeom>
          <a:noFill/>
          <a:ln/>
        </p:spPr>
        <p:txBody>
          <a:bodyPr wrap="square" lIns="0" tIns="0" rIns="0" bIns="0" rtlCol="0" anchor="ctr"/>
          <a:lstStyle/>
          <a:p>
            <a:pPr indent="0" marL="0">
              <a:buNone/>
            </a:pPr>
            <a:r>
              <a:rPr lang="en-US" sz="1350" b="1" dirty="0">
                <a:solidFill>
                  <a:srgbClr val="1E2761"/>
                </a:solidFill>
                <a:latin typeface="Yu Gothic" pitchFamily="34" charset="0"/>
                <a:ea typeface="Yu Gothic" pitchFamily="34" charset="-122"/>
                <a:cs typeface="Yu Gothic" pitchFamily="34" charset="-120"/>
              </a:rPr>
              <a:t>企業ごとに完全分離</a:t>
            </a:r>
            <a:endParaRPr lang="en-US" sz="1350" dirty="0"/>
          </a:p>
        </p:txBody>
      </p:sp>
      <p:sp>
        <p:nvSpPr>
          <p:cNvPr id="12" name="Text 8"/>
          <p:cNvSpPr/>
          <p:nvPr/>
        </p:nvSpPr>
        <p:spPr>
          <a:xfrm>
            <a:off x="3639312" y="2898648"/>
            <a:ext cx="2103120" cy="2450592"/>
          </a:xfrm>
          <a:prstGeom prst="rect">
            <a:avLst/>
          </a:prstGeom>
          <a:noFill/>
          <a:ln/>
        </p:spPr>
        <p:txBody>
          <a:bodyPr wrap="square" lIns="0" tIns="0" rIns="0" bIns="0" rtlCol="0" anchor="t"/>
          <a:lstStyle/>
          <a:p>
            <a:pPr indent="0" marL="0">
              <a:lnSpc>
                <a:spcPct val="118000"/>
              </a:lnSpc>
              <a:buNone/>
            </a:pPr>
            <a:r>
              <a:rPr lang="en-US" sz="1100" dirty="0">
                <a:solidFill>
                  <a:srgbClr val="1A1F36"/>
                </a:solidFill>
                <a:latin typeface="Yu Gothic" pitchFamily="34" charset="0"/>
                <a:ea typeface="Yu Gothic" pitchFamily="34" charset="-122"/>
                <a:cs typeface="Yu Gothic" pitchFamily="34" charset="-120"/>
              </a:rPr>
              <a:t>データは企業単位で完全に分離され、APIキーによる認証で保護されます。</a:t>
            </a:r>
            <a:endParaRPr lang="en-US" sz="1100" dirty="0"/>
          </a:p>
        </p:txBody>
      </p:sp>
      <p:sp>
        <p:nvSpPr>
          <p:cNvPr id="13" name="Shape 9"/>
          <p:cNvSpPr/>
          <p:nvPr/>
        </p:nvSpPr>
        <p:spPr>
          <a:xfrm>
            <a:off x="6217920" y="1691640"/>
            <a:ext cx="2615184" cy="3840480"/>
          </a:xfrm>
          <a:prstGeom prst="roundRect">
            <a:avLst>
              <a:gd name="adj" fmla="val 3497"/>
            </a:avLst>
          </a:prstGeom>
          <a:solidFill>
            <a:srgbClr val="F4F7FC"/>
          </a:solidFill>
          <a:ln/>
          <a:effectLst>
            <a:outerShdw sx="100000" sy="100000" kx="0" ky="0" algn="bl" rotWithShape="0" blurRad="101600" dist="25400" dir="5400000">
              <a:srgbClr val="1E2761">
                <a:alpha val="12000"/>
              </a:srgbClr>
            </a:outerShdw>
          </a:effectLst>
        </p:spPr>
      </p:sp>
      <p:sp>
        <p:nvSpPr>
          <p:cNvPr id="14" name="Shape 10"/>
          <p:cNvSpPr/>
          <p:nvPr/>
        </p:nvSpPr>
        <p:spPr>
          <a:xfrm>
            <a:off x="6473952" y="1929384"/>
            <a:ext cx="512064" cy="512064"/>
          </a:xfrm>
          <a:prstGeom prst="ellipse">
            <a:avLst/>
          </a:prstGeom>
          <a:solidFill>
            <a:srgbClr val="1E2761"/>
          </a:solidFill>
          <a:ln/>
        </p:spPr>
      </p:sp>
      <p:pic>
        <p:nvPicPr>
          <p:cNvPr id="15" name="Image 2" descr="/tmp/claude-0/-home-user-plugbits-plugins/8ace6739-6c8b-5dc3-ad00-7f049c58d65c/scratchpad/icons/FiLock_white.png">    </p:cNvPr>
          <p:cNvPicPr>
            <a:picLocks noChangeAspect="1"/>
          </p:cNvPicPr>
          <p:nvPr/>
        </p:nvPicPr>
        <p:blipFill>
          <a:blip r:embed="rId3"/>
          <a:stretch>
            <a:fillRect/>
          </a:stretch>
        </p:blipFill>
        <p:spPr>
          <a:xfrm>
            <a:off x="6589166" y="2044598"/>
            <a:ext cx="281635" cy="281635"/>
          </a:xfrm>
          <a:prstGeom prst="rect">
            <a:avLst/>
          </a:prstGeom>
        </p:spPr>
      </p:pic>
      <p:sp>
        <p:nvSpPr>
          <p:cNvPr id="16" name="Text 11"/>
          <p:cNvSpPr/>
          <p:nvPr/>
        </p:nvSpPr>
        <p:spPr>
          <a:xfrm>
            <a:off x="6473952" y="2551176"/>
            <a:ext cx="2103120" cy="320040"/>
          </a:xfrm>
          <a:prstGeom prst="rect">
            <a:avLst/>
          </a:prstGeom>
          <a:noFill/>
          <a:ln/>
        </p:spPr>
        <p:txBody>
          <a:bodyPr wrap="square" lIns="0" tIns="0" rIns="0" bIns="0" rtlCol="0" anchor="ctr"/>
          <a:lstStyle/>
          <a:p>
            <a:pPr indent="0" marL="0">
              <a:buNone/>
            </a:pPr>
            <a:r>
              <a:rPr lang="en-US" sz="1350" b="1" dirty="0">
                <a:solidFill>
                  <a:srgbClr val="1E2761"/>
                </a:solidFill>
                <a:latin typeface="Yu Gothic" pitchFamily="34" charset="0"/>
                <a:ea typeface="Yu Gothic" pitchFamily="34" charset="-122"/>
                <a:cs typeface="Yu Gothic" pitchFamily="34" charset="-120"/>
              </a:rPr>
              <a:t>通信は暗号化</a:t>
            </a:r>
            <a:endParaRPr lang="en-US" sz="1350" dirty="0"/>
          </a:p>
        </p:txBody>
      </p:sp>
      <p:sp>
        <p:nvSpPr>
          <p:cNvPr id="17" name="Text 12"/>
          <p:cNvSpPr/>
          <p:nvPr/>
        </p:nvSpPr>
        <p:spPr>
          <a:xfrm>
            <a:off x="6473952" y="2898648"/>
            <a:ext cx="2103120" cy="2450592"/>
          </a:xfrm>
          <a:prstGeom prst="rect">
            <a:avLst/>
          </a:prstGeom>
          <a:noFill/>
          <a:ln/>
        </p:spPr>
        <p:txBody>
          <a:bodyPr wrap="square" lIns="0" tIns="0" rIns="0" bIns="0" rtlCol="0" anchor="t"/>
          <a:lstStyle/>
          <a:p>
            <a:pPr indent="0" marL="0">
              <a:lnSpc>
                <a:spcPct val="118000"/>
              </a:lnSpc>
              <a:buNone/>
            </a:pPr>
            <a:r>
              <a:rPr lang="en-US" sz="1100" dirty="0">
                <a:solidFill>
                  <a:srgbClr val="1A1F36"/>
                </a:solidFill>
                <a:latin typeface="Yu Gothic" pitchFamily="34" charset="0"/>
                <a:ea typeface="Yu Gothic" pitchFamily="34" charset="-122"/>
                <a:cs typeface="Yu Gothic" pitchFamily="34" charset="-120"/>
              </a:rPr>
              <a:t>全通信はTLSで暗号化。サムネイル画像も署名付きトークンで保護されます。</a:t>
            </a:r>
            <a:endParaRPr lang="en-US" sz="1100" dirty="0"/>
          </a:p>
        </p:txBody>
      </p:sp>
      <p:sp>
        <p:nvSpPr>
          <p:cNvPr id="18" name="Shape 13"/>
          <p:cNvSpPr/>
          <p:nvPr/>
        </p:nvSpPr>
        <p:spPr>
          <a:xfrm>
            <a:off x="9052560" y="1691640"/>
            <a:ext cx="2615184" cy="3840480"/>
          </a:xfrm>
          <a:prstGeom prst="roundRect">
            <a:avLst>
              <a:gd name="adj" fmla="val 3497"/>
            </a:avLst>
          </a:prstGeom>
          <a:solidFill>
            <a:srgbClr val="F4F7FC"/>
          </a:solidFill>
          <a:ln/>
          <a:effectLst>
            <a:outerShdw sx="100000" sy="100000" kx="0" ky="0" algn="bl" rotWithShape="0" blurRad="101600" dist="25400" dir="5400000">
              <a:srgbClr val="1E2761">
                <a:alpha val="12000"/>
              </a:srgbClr>
            </a:outerShdw>
          </a:effectLst>
        </p:spPr>
      </p:sp>
      <p:sp>
        <p:nvSpPr>
          <p:cNvPr id="19" name="Shape 14"/>
          <p:cNvSpPr/>
          <p:nvPr/>
        </p:nvSpPr>
        <p:spPr>
          <a:xfrm>
            <a:off x="9308592" y="1929384"/>
            <a:ext cx="512064" cy="512064"/>
          </a:xfrm>
          <a:prstGeom prst="ellipse">
            <a:avLst/>
          </a:prstGeom>
          <a:solidFill>
            <a:srgbClr val="1E2761"/>
          </a:solidFill>
          <a:ln/>
        </p:spPr>
      </p:sp>
      <p:pic>
        <p:nvPicPr>
          <p:cNvPr id="20" name="Image 3" descr="/tmp/claude-0/-home-user-plugbits-plugins/8ace6739-6c8b-5dc3-ad00-7f049c58d65c/scratchpad/icons/FiKey_white.png">    </p:cNvPr>
          <p:cNvPicPr>
            <a:picLocks noChangeAspect="1"/>
          </p:cNvPicPr>
          <p:nvPr/>
        </p:nvPicPr>
        <p:blipFill>
          <a:blip r:embed="rId4"/>
          <a:stretch>
            <a:fillRect/>
          </a:stretch>
        </p:blipFill>
        <p:spPr>
          <a:xfrm>
            <a:off x="9423806" y="2044598"/>
            <a:ext cx="281635" cy="281635"/>
          </a:xfrm>
          <a:prstGeom prst="rect">
            <a:avLst/>
          </a:prstGeom>
        </p:spPr>
      </p:pic>
      <p:sp>
        <p:nvSpPr>
          <p:cNvPr id="21" name="Text 15"/>
          <p:cNvSpPr/>
          <p:nvPr/>
        </p:nvSpPr>
        <p:spPr>
          <a:xfrm>
            <a:off x="9308592" y="2551176"/>
            <a:ext cx="2103120" cy="320040"/>
          </a:xfrm>
          <a:prstGeom prst="rect">
            <a:avLst/>
          </a:prstGeom>
          <a:noFill/>
          <a:ln/>
        </p:spPr>
        <p:txBody>
          <a:bodyPr wrap="square" lIns="0" tIns="0" rIns="0" bIns="0" rtlCol="0" anchor="ctr"/>
          <a:lstStyle/>
          <a:p>
            <a:pPr indent="0" marL="0">
              <a:buNone/>
            </a:pPr>
            <a:r>
              <a:rPr lang="en-US" sz="1350" b="1" dirty="0">
                <a:solidFill>
                  <a:srgbClr val="1E2761"/>
                </a:solidFill>
                <a:latin typeface="Yu Gothic" pitchFamily="34" charset="0"/>
                <a:ea typeface="Yu Gothic" pitchFamily="34" charset="-122"/>
                <a:cs typeface="Yu Gothic" pitchFamily="34" charset="-120"/>
              </a:rPr>
              <a:t>認証情報を預かりません</a:t>
            </a:r>
            <a:endParaRPr lang="en-US" sz="1350" dirty="0"/>
          </a:p>
        </p:txBody>
      </p:sp>
      <p:sp>
        <p:nvSpPr>
          <p:cNvPr id="22" name="Text 16"/>
          <p:cNvSpPr/>
          <p:nvPr/>
        </p:nvSpPr>
        <p:spPr>
          <a:xfrm>
            <a:off x="9308592" y="2898648"/>
            <a:ext cx="2103120" cy="2450592"/>
          </a:xfrm>
          <a:prstGeom prst="rect">
            <a:avLst/>
          </a:prstGeom>
          <a:noFill/>
          <a:ln/>
        </p:spPr>
        <p:txBody>
          <a:bodyPr wrap="square" lIns="0" tIns="0" rIns="0" bIns="0" rtlCol="0" anchor="t"/>
          <a:lstStyle/>
          <a:p>
            <a:pPr indent="0" marL="0">
              <a:lnSpc>
                <a:spcPct val="118000"/>
              </a:lnSpc>
              <a:buNone/>
            </a:pPr>
            <a:r>
              <a:rPr lang="en-US" sz="1100" dirty="0">
                <a:solidFill>
                  <a:srgbClr val="1A1F36"/>
                </a:solidFill>
                <a:latin typeface="Yu Gothic" pitchFamily="34" charset="0"/>
                <a:ea typeface="Yu Gothic" pitchFamily="34" charset="-122"/>
                <a:cs typeface="Yu Gothic" pitchFamily="34" charset="-120"/>
              </a:rPr>
              <a:t>kintoneのパスワードやAPIトークンは預かりません。閲覧権限のあるユーザーのブラウザ経由でのみファイルを取得します。</a:t>
            </a:r>
            <a:endParaRPr lang="en-US" sz="1100" dirty="0"/>
          </a:p>
        </p:txBody>
      </p:sp>
      <p:sp>
        <p:nvSpPr>
          <p:cNvPr id="23" name="Text 17"/>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導入当日の流れ（貴社側 約30分）</a:t>
            </a:r>
            <a:endParaRPr lang="en-US" sz="2900" dirty="0"/>
          </a:p>
        </p:txBody>
      </p:sp>
      <p:sp>
        <p:nvSpPr>
          <p:cNvPr id="3" name="Shape 1"/>
          <p:cNvSpPr/>
          <p:nvPr/>
        </p:nvSpPr>
        <p:spPr>
          <a:xfrm>
            <a:off x="548640" y="1920240"/>
            <a:ext cx="2377440" cy="2377440"/>
          </a:xfrm>
          <a:prstGeom prst="roundRect">
            <a:avLst>
              <a:gd name="adj" fmla="val 3846"/>
            </a:avLst>
          </a:prstGeom>
          <a:solidFill>
            <a:srgbClr val="F4F7FC"/>
          </a:solidFill>
          <a:ln/>
        </p:spPr>
      </p:sp>
      <p:sp>
        <p:nvSpPr>
          <p:cNvPr id="4" name="Shape 2"/>
          <p:cNvSpPr/>
          <p:nvPr/>
        </p:nvSpPr>
        <p:spPr>
          <a:xfrm>
            <a:off x="1444752" y="2176272"/>
            <a:ext cx="585216" cy="585216"/>
          </a:xfrm>
          <a:prstGeom prst="ellipse">
            <a:avLst/>
          </a:prstGeom>
          <a:solidFill>
            <a:srgbClr val="1E2761"/>
          </a:solidFill>
          <a:ln/>
        </p:spPr>
      </p:sp>
      <p:sp>
        <p:nvSpPr>
          <p:cNvPr id="5" name="Text 3"/>
          <p:cNvSpPr/>
          <p:nvPr/>
        </p:nvSpPr>
        <p:spPr>
          <a:xfrm>
            <a:off x="1444752" y="21762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85800" y="2926080"/>
            <a:ext cx="2103120" cy="868680"/>
          </a:xfrm>
          <a:prstGeom prst="rect">
            <a:avLst/>
          </a:prstGeom>
          <a:noFill/>
          <a:ln/>
        </p:spPr>
        <p:txBody>
          <a:bodyPr wrap="square" lIns="0" tIns="0" rIns="0" bIns="0" rtlCol="0" anchor="t"/>
          <a:lstStyle/>
          <a:p>
            <a:pPr algn="ctr" indent="0" marL="0">
              <a:lnSpc>
                <a:spcPct val="115000"/>
              </a:lnSpc>
              <a:buNone/>
            </a:pPr>
            <a:r>
              <a:rPr lang="en-US" sz="1300" b="1" dirty="0">
                <a:solidFill>
                  <a:srgbClr val="1E2761"/>
                </a:solidFill>
                <a:latin typeface="Yu Gothic" pitchFamily="34" charset="0"/>
                <a:ea typeface="Yu Gothic" pitchFamily="34" charset="-122"/>
                <a:cs typeface="Yu Gothic" pitchFamily="34" charset="-120"/>
              </a:rPr>
              <a:t>プラグイン読み込み</a:t>
            </a:r>
            <a:endParaRPr lang="en-US" sz="1300" dirty="0"/>
          </a:p>
        </p:txBody>
      </p:sp>
      <p:sp>
        <p:nvSpPr>
          <p:cNvPr id="7" name="Text 5"/>
          <p:cNvSpPr/>
          <p:nvPr/>
        </p:nvSpPr>
        <p:spPr>
          <a:xfrm>
            <a:off x="685800" y="3840480"/>
            <a:ext cx="2103120" cy="365760"/>
          </a:xfrm>
          <a:prstGeom prst="rect">
            <a:avLst/>
          </a:prstGeom>
          <a:noFill/>
          <a:ln/>
        </p:spPr>
        <p:txBody>
          <a:bodyPr wrap="square" lIns="0" tIns="0" rIns="0" bIns="0" rtlCol="0" anchor="ctr"/>
          <a:lstStyle/>
          <a:p>
            <a:pPr algn="ctr" indent="0" marL="0">
              <a:buNone/>
            </a:pPr>
            <a:r>
              <a:rPr lang="en-US" sz="1200" b="1" dirty="0">
                <a:solidFill>
                  <a:srgbClr val="E8833A"/>
                </a:solidFill>
                <a:latin typeface="Yu Gothic" pitchFamily="34" charset="0"/>
                <a:ea typeface="Yu Gothic" pitchFamily="34" charset="-122"/>
                <a:cs typeface="Yu Gothic" pitchFamily="34" charset="-120"/>
              </a:rPr>
              <a:t>約5分</a:t>
            </a:r>
            <a:endParaRPr lang="en-US" sz="1200" dirty="0"/>
          </a:p>
        </p:txBody>
      </p:sp>
      <p:sp>
        <p:nvSpPr>
          <p:cNvPr id="8" name="Text 6"/>
          <p:cNvSpPr/>
          <p:nvPr/>
        </p:nvSpPr>
        <p:spPr>
          <a:xfrm>
            <a:off x="2926080" y="2560320"/>
            <a:ext cx="502920" cy="457200"/>
          </a:xfrm>
          <a:prstGeom prst="rect">
            <a:avLst/>
          </a:prstGeom>
          <a:noFill/>
          <a:ln/>
        </p:spPr>
        <p:txBody>
          <a:bodyPr wrap="square" lIns="0" tIns="0" rIns="0" bIns="0" rtlCol="0" anchor="ctr"/>
          <a:lstStyle/>
          <a:p>
            <a:pPr algn="ctr" indent="0" marL="0">
              <a:buNone/>
            </a:pPr>
            <a:r>
              <a:rPr lang="en-US" sz="2000" b="1" dirty="0">
                <a:solidFill>
                  <a:srgbClr val="E8833A"/>
                </a:solidFill>
                <a:latin typeface="Yu Gothic" pitchFamily="34" charset="0"/>
                <a:ea typeface="Yu Gothic" pitchFamily="34" charset="-122"/>
                <a:cs typeface="Yu Gothic" pitchFamily="34" charset="-120"/>
              </a:rPr>
              <a:t>→</a:t>
            </a:r>
            <a:endParaRPr lang="en-US" sz="2000" dirty="0"/>
          </a:p>
        </p:txBody>
      </p:sp>
      <p:sp>
        <p:nvSpPr>
          <p:cNvPr id="9" name="Shape 7"/>
          <p:cNvSpPr/>
          <p:nvPr/>
        </p:nvSpPr>
        <p:spPr>
          <a:xfrm>
            <a:off x="3429000" y="1920240"/>
            <a:ext cx="2377440" cy="2377440"/>
          </a:xfrm>
          <a:prstGeom prst="roundRect">
            <a:avLst>
              <a:gd name="adj" fmla="val 3846"/>
            </a:avLst>
          </a:prstGeom>
          <a:solidFill>
            <a:srgbClr val="F4F7FC"/>
          </a:solidFill>
          <a:ln/>
        </p:spPr>
      </p:sp>
      <p:sp>
        <p:nvSpPr>
          <p:cNvPr id="10" name="Shape 8"/>
          <p:cNvSpPr/>
          <p:nvPr/>
        </p:nvSpPr>
        <p:spPr>
          <a:xfrm>
            <a:off x="4325112" y="2176272"/>
            <a:ext cx="585216" cy="585216"/>
          </a:xfrm>
          <a:prstGeom prst="ellipse">
            <a:avLst/>
          </a:prstGeom>
          <a:solidFill>
            <a:srgbClr val="1E2761"/>
          </a:solidFill>
          <a:ln/>
        </p:spPr>
      </p:sp>
      <p:sp>
        <p:nvSpPr>
          <p:cNvPr id="11" name="Text 9"/>
          <p:cNvSpPr/>
          <p:nvPr/>
        </p:nvSpPr>
        <p:spPr>
          <a:xfrm>
            <a:off x="4325112" y="21762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2</a:t>
            </a:r>
            <a:endParaRPr lang="en-US" sz="2000" dirty="0"/>
          </a:p>
        </p:txBody>
      </p:sp>
      <p:sp>
        <p:nvSpPr>
          <p:cNvPr id="12" name="Text 10"/>
          <p:cNvSpPr/>
          <p:nvPr/>
        </p:nvSpPr>
        <p:spPr>
          <a:xfrm>
            <a:off x="3566160" y="2926080"/>
            <a:ext cx="2103120" cy="868680"/>
          </a:xfrm>
          <a:prstGeom prst="rect">
            <a:avLst/>
          </a:prstGeom>
          <a:noFill/>
          <a:ln/>
        </p:spPr>
        <p:txBody>
          <a:bodyPr wrap="square" lIns="0" tIns="0" rIns="0" bIns="0" rtlCol="0" anchor="t"/>
          <a:lstStyle/>
          <a:p>
            <a:pPr algn="ctr" indent="0" marL="0">
              <a:lnSpc>
                <a:spcPct val="115000"/>
              </a:lnSpc>
              <a:buNone/>
            </a:pPr>
            <a:r>
              <a:rPr lang="en-US" sz="1300" b="1" dirty="0">
                <a:solidFill>
                  <a:srgbClr val="1E2761"/>
                </a:solidFill>
                <a:latin typeface="Yu Gothic" pitchFamily="34" charset="0"/>
                <a:ea typeface="Yu Gothic" pitchFamily="34" charset="-122"/>
                <a:cs typeface="Yu Gothic" pitchFamily="34" charset="-120"/>
              </a:rPr>
              <a:t>アプリ設定・</a:t>
            </a:r>
            <a:endParaRPr lang="en-US" sz="1300" dirty="0"/>
          </a:p>
          <a:p>
            <a:pPr algn="ctr" indent="0" marL="0">
              <a:lnSpc>
                <a:spcPct val="115000"/>
              </a:lnSpc>
              <a:buNone/>
            </a:pPr>
            <a:r>
              <a:rPr lang="en-US" sz="1300" b="1" dirty="0">
                <a:solidFill>
                  <a:srgbClr val="1E2761"/>
                </a:solidFill>
                <a:latin typeface="Yu Gothic" pitchFamily="34" charset="0"/>
                <a:ea typeface="Yu Gothic" pitchFamily="34" charset="-122"/>
                <a:cs typeface="Yu Gothic" pitchFamily="34" charset="-120"/>
              </a:rPr>
              <a:t>フィールド割り当て</a:t>
            </a:r>
            <a:endParaRPr lang="en-US" sz="1300" dirty="0"/>
          </a:p>
        </p:txBody>
      </p:sp>
      <p:sp>
        <p:nvSpPr>
          <p:cNvPr id="13" name="Text 11"/>
          <p:cNvSpPr/>
          <p:nvPr/>
        </p:nvSpPr>
        <p:spPr>
          <a:xfrm>
            <a:off x="3566160" y="3840480"/>
            <a:ext cx="2103120" cy="365760"/>
          </a:xfrm>
          <a:prstGeom prst="rect">
            <a:avLst/>
          </a:prstGeom>
          <a:noFill/>
          <a:ln/>
        </p:spPr>
        <p:txBody>
          <a:bodyPr wrap="square" lIns="0" tIns="0" rIns="0" bIns="0" rtlCol="0" anchor="ctr"/>
          <a:lstStyle/>
          <a:p>
            <a:pPr algn="ctr" indent="0" marL="0">
              <a:buNone/>
            </a:pPr>
            <a:r>
              <a:rPr lang="en-US" sz="1200" b="1" dirty="0">
                <a:solidFill>
                  <a:srgbClr val="E8833A"/>
                </a:solidFill>
                <a:latin typeface="Yu Gothic" pitchFamily="34" charset="0"/>
                <a:ea typeface="Yu Gothic" pitchFamily="34" charset="-122"/>
                <a:cs typeface="Yu Gothic" pitchFamily="34" charset="-120"/>
              </a:rPr>
              <a:t>約10分</a:t>
            </a:r>
            <a:endParaRPr lang="en-US" sz="1200" dirty="0"/>
          </a:p>
        </p:txBody>
      </p:sp>
      <p:sp>
        <p:nvSpPr>
          <p:cNvPr id="14" name="Text 12"/>
          <p:cNvSpPr/>
          <p:nvPr/>
        </p:nvSpPr>
        <p:spPr>
          <a:xfrm>
            <a:off x="5806440" y="2560320"/>
            <a:ext cx="502920" cy="457200"/>
          </a:xfrm>
          <a:prstGeom prst="rect">
            <a:avLst/>
          </a:prstGeom>
          <a:noFill/>
          <a:ln/>
        </p:spPr>
        <p:txBody>
          <a:bodyPr wrap="square" lIns="0" tIns="0" rIns="0" bIns="0" rtlCol="0" anchor="ctr"/>
          <a:lstStyle/>
          <a:p>
            <a:pPr algn="ctr" indent="0" marL="0">
              <a:buNone/>
            </a:pPr>
            <a:r>
              <a:rPr lang="en-US" sz="2000" b="1" dirty="0">
                <a:solidFill>
                  <a:srgbClr val="E8833A"/>
                </a:solidFill>
                <a:latin typeface="Yu Gothic" pitchFamily="34" charset="0"/>
                <a:ea typeface="Yu Gothic" pitchFamily="34" charset="-122"/>
                <a:cs typeface="Yu Gothic" pitchFamily="34" charset="-120"/>
              </a:rPr>
              <a:t>→</a:t>
            </a:r>
            <a:endParaRPr lang="en-US" sz="2000" dirty="0"/>
          </a:p>
        </p:txBody>
      </p:sp>
      <p:sp>
        <p:nvSpPr>
          <p:cNvPr id="15" name="Shape 13"/>
          <p:cNvSpPr/>
          <p:nvPr/>
        </p:nvSpPr>
        <p:spPr>
          <a:xfrm>
            <a:off x="6309360" y="1920240"/>
            <a:ext cx="2377440" cy="2377440"/>
          </a:xfrm>
          <a:prstGeom prst="roundRect">
            <a:avLst>
              <a:gd name="adj" fmla="val 3846"/>
            </a:avLst>
          </a:prstGeom>
          <a:solidFill>
            <a:srgbClr val="F4F7FC"/>
          </a:solidFill>
          <a:ln/>
        </p:spPr>
      </p:sp>
      <p:sp>
        <p:nvSpPr>
          <p:cNvPr id="16" name="Shape 14"/>
          <p:cNvSpPr/>
          <p:nvPr/>
        </p:nvSpPr>
        <p:spPr>
          <a:xfrm>
            <a:off x="7205472" y="2176272"/>
            <a:ext cx="585216" cy="585216"/>
          </a:xfrm>
          <a:prstGeom prst="ellipse">
            <a:avLst/>
          </a:prstGeom>
          <a:solidFill>
            <a:srgbClr val="1E2761"/>
          </a:solidFill>
          <a:ln/>
        </p:spPr>
      </p:sp>
      <p:sp>
        <p:nvSpPr>
          <p:cNvPr id="17" name="Text 15"/>
          <p:cNvSpPr/>
          <p:nvPr/>
        </p:nvSpPr>
        <p:spPr>
          <a:xfrm>
            <a:off x="7205472" y="21762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3</a:t>
            </a:r>
            <a:endParaRPr lang="en-US" sz="2000" dirty="0"/>
          </a:p>
        </p:txBody>
      </p:sp>
      <p:sp>
        <p:nvSpPr>
          <p:cNvPr id="18" name="Text 16"/>
          <p:cNvSpPr/>
          <p:nvPr/>
        </p:nvSpPr>
        <p:spPr>
          <a:xfrm>
            <a:off x="6446520" y="2926080"/>
            <a:ext cx="2103120" cy="868680"/>
          </a:xfrm>
          <a:prstGeom prst="rect">
            <a:avLst/>
          </a:prstGeom>
          <a:noFill/>
          <a:ln/>
        </p:spPr>
        <p:txBody>
          <a:bodyPr wrap="square" lIns="0" tIns="0" rIns="0" bIns="0" rtlCol="0" anchor="t"/>
          <a:lstStyle/>
          <a:p>
            <a:pPr algn="ctr" indent="0" marL="0">
              <a:lnSpc>
                <a:spcPct val="115000"/>
              </a:lnSpc>
              <a:buNone/>
            </a:pPr>
            <a:r>
              <a:rPr lang="en-US" sz="1300" b="1" dirty="0">
                <a:solidFill>
                  <a:srgbClr val="1E2761"/>
                </a:solidFill>
                <a:latin typeface="Yu Gothic" pitchFamily="34" charset="0"/>
                <a:ea typeface="Yu Gothic" pitchFamily="34" charset="-122"/>
                <a:cs typeface="Yu Gothic" pitchFamily="34" charset="-120"/>
              </a:rPr>
              <a:t>APIキー設定・</a:t>
            </a:r>
            <a:endParaRPr lang="en-US" sz="1300" dirty="0"/>
          </a:p>
          <a:p>
            <a:pPr algn="ctr" indent="0" marL="0">
              <a:lnSpc>
                <a:spcPct val="115000"/>
              </a:lnSpc>
              <a:buNone/>
            </a:pPr>
            <a:r>
              <a:rPr lang="en-US" sz="1300" b="1" dirty="0">
                <a:solidFill>
                  <a:srgbClr val="1E2761"/>
                </a:solidFill>
                <a:latin typeface="Yu Gothic" pitchFamily="34" charset="0"/>
                <a:ea typeface="Yu Gothic" pitchFamily="34" charset="-122"/>
                <a:cs typeface="Yu Gothic" pitchFamily="34" charset="-120"/>
              </a:rPr>
              <a:t>接続テスト</a:t>
            </a:r>
            <a:endParaRPr lang="en-US" sz="1300" dirty="0"/>
          </a:p>
        </p:txBody>
      </p:sp>
      <p:sp>
        <p:nvSpPr>
          <p:cNvPr id="19" name="Text 17"/>
          <p:cNvSpPr/>
          <p:nvPr/>
        </p:nvSpPr>
        <p:spPr>
          <a:xfrm>
            <a:off x="6446520" y="3840480"/>
            <a:ext cx="2103120" cy="365760"/>
          </a:xfrm>
          <a:prstGeom prst="rect">
            <a:avLst/>
          </a:prstGeom>
          <a:noFill/>
          <a:ln/>
        </p:spPr>
        <p:txBody>
          <a:bodyPr wrap="square" lIns="0" tIns="0" rIns="0" bIns="0" rtlCol="0" anchor="ctr"/>
          <a:lstStyle/>
          <a:p>
            <a:pPr algn="ctr" indent="0" marL="0">
              <a:buNone/>
            </a:pPr>
            <a:r>
              <a:rPr lang="en-US" sz="1200" b="1" dirty="0">
                <a:solidFill>
                  <a:srgbClr val="E8833A"/>
                </a:solidFill>
                <a:latin typeface="Yu Gothic" pitchFamily="34" charset="0"/>
                <a:ea typeface="Yu Gothic" pitchFamily="34" charset="-122"/>
                <a:cs typeface="Yu Gothic" pitchFamily="34" charset="-120"/>
              </a:rPr>
              <a:t>約5分</a:t>
            </a:r>
            <a:endParaRPr lang="en-US" sz="1200" dirty="0"/>
          </a:p>
        </p:txBody>
      </p:sp>
      <p:sp>
        <p:nvSpPr>
          <p:cNvPr id="20" name="Text 18"/>
          <p:cNvSpPr/>
          <p:nvPr/>
        </p:nvSpPr>
        <p:spPr>
          <a:xfrm>
            <a:off x="8686800" y="2560320"/>
            <a:ext cx="502920" cy="457200"/>
          </a:xfrm>
          <a:prstGeom prst="rect">
            <a:avLst/>
          </a:prstGeom>
          <a:noFill/>
          <a:ln/>
        </p:spPr>
        <p:txBody>
          <a:bodyPr wrap="square" lIns="0" tIns="0" rIns="0" bIns="0" rtlCol="0" anchor="ctr"/>
          <a:lstStyle/>
          <a:p>
            <a:pPr algn="ctr" indent="0" marL="0">
              <a:buNone/>
            </a:pPr>
            <a:r>
              <a:rPr lang="en-US" sz="2000" b="1" dirty="0">
                <a:solidFill>
                  <a:srgbClr val="E8833A"/>
                </a:solidFill>
                <a:latin typeface="Yu Gothic" pitchFamily="34" charset="0"/>
                <a:ea typeface="Yu Gothic" pitchFamily="34" charset="-122"/>
                <a:cs typeface="Yu Gothic" pitchFamily="34" charset="-120"/>
              </a:rPr>
              <a:t>→</a:t>
            </a:r>
            <a:endParaRPr lang="en-US" sz="2000" dirty="0"/>
          </a:p>
        </p:txBody>
      </p:sp>
      <p:sp>
        <p:nvSpPr>
          <p:cNvPr id="21" name="Shape 19"/>
          <p:cNvSpPr/>
          <p:nvPr/>
        </p:nvSpPr>
        <p:spPr>
          <a:xfrm>
            <a:off x="9189720" y="1920240"/>
            <a:ext cx="2377440" cy="2377440"/>
          </a:xfrm>
          <a:prstGeom prst="roundRect">
            <a:avLst>
              <a:gd name="adj" fmla="val 3846"/>
            </a:avLst>
          </a:prstGeom>
          <a:solidFill>
            <a:srgbClr val="F4F7FC"/>
          </a:solidFill>
          <a:ln/>
        </p:spPr>
      </p:sp>
      <p:sp>
        <p:nvSpPr>
          <p:cNvPr id="22" name="Shape 20"/>
          <p:cNvSpPr/>
          <p:nvPr/>
        </p:nvSpPr>
        <p:spPr>
          <a:xfrm>
            <a:off x="10085832" y="2176272"/>
            <a:ext cx="585216" cy="585216"/>
          </a:xfrm>
          <a:prstGeom prst="ellipse">
            <a:avLst/>
          </a:prstGeom>
          <a:solidFill>
            <a:srgbClr val="1E2761"/>
          </a:solidFill>
          <a:ln/>
        </p:spPr>
      </p:sp>
      <p:sp>
        <p:nvSpPr>
          <p:cNvPr id="23" name="Text 21"/>
          <p:cNvSpPr/>
          <p:nvPr/>
        </p:nvSpPr>
        <p:spPr>
          <a:xfrm>
            <a:off x="10085832" y="217627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4</a:t>
            </a:r>
            <a:endParaRPr lang="en-US" sz="2000" dirty="0"/>
          </a:p>
        </p:txBody>
      </p:sp>
      <p:sp>
        <p:nvSpPr>
          <p:cNvPr id="24" name="Text 22"/>
          <p:cNvSpPr/>
          <p:nvPr/>
        </p:nvSpPr>
        <p:spPr>
          <a:xfrm>
            <a:off x="9326880" y="2926080"/>
            <a:ext cx="2103120" cy="868680"/>
          </a:xfrm>
          <a:prstGeom prst="rect">
            <a:avLst/>
          </a:prstGeom>
          <a:noFill/>
          <a:ln/>
        </p:spPr>
        <p:txBody>
          <a:bodyPr wrap="square" lIns="0" tIns="0" rIns="0" bIns="0" rtlCol="0" anchor="t"/>
          <a:lstStyle/>
          <a:p>
            <a:pPr algn="ctr" indent="0" marL="0">
              <a:lnSpc>
                <a:spcPct val="115000"/>
              </a:lnSpc>
              <a:buNone/>
            </a:pPr>
            <a:r>
              <a:rPr lang="en-US" sz="1300" b="1" dirty="0">
                <a:solidFill>
                  <a:srgbClr val="1E2761"/>
                </a:solidFill>
                <a:latin typeface="Yu Gothic" pitchFamily="34" charset="0"/>
                <a:ea typeface="Yu Gothic" pitchFamily="34" charset="-122"/>
                <a:cs typeface="Yu Gothic" pitchFamily="34" charset="-120"/>
              </a:rPr>
              <a:t>既存図面の一括登録</a:t>
            </a:r>
            <a:endParaRPr lang="en-US" sz="1300" dirty="0"/>
          </a:p>
        </p:txBody>
      </p:sp>
      <p:sp>
        <p:nvSpPr>
          <p:cNvPr id="25" name="Text 23"/>
          <p:cNvSpPr/>
          <p:nvPr/>
        </p:nvSpPr>
        <p:spPr>
          <a:xfrm>
            <a:off x="9326880" y="3840480"/>
            <a:ext cx="2103120" cy="365760"/>
          </a:xfrm>
          <a:prstGeom prst="rect">
            <a:avLst/>
          </a:prstGeom>
          <a:noFill/>
          <a:ln/>
        </p:spPr>
        <p:txBody>
          <a:bodyPr wrap="square" lIns="0" tIns="0" rIns="0" bIns="0" rtlCol="0" anchor="ctr"/>
          <a:lstStyle/>
          <a:p>
            <a:pPr algn="ctr" indent="0" marL="0">
              <a:buNone/>
            </a:pPr>
            <a:r>
              <a:rPr lang="en-US" sz="1200" b="1" dirty="0">
                <a:solidFill>
                  <a:srgbClr val="E8833A"/>
                </a:solidFill>
                <a:latin typeface="Yu Gothic" pitchFamily="34" charset="0"/>
                <a:ea typeface="Yu Gothic" pitchFamily="34" charset="-122"/>
                <a:cs typeface="Yu Gothic" pitchFamily="34" charset="-120"/>
              </a:rPr>
              <a:t>約10分〜（件数による）</a:t>
            </a:r>
            <a:endParaRPr lang="en-US" sz="1200" dirty="0"/>
          </a:p>
        </p:txBody>
      </p:sp>
      <p:sp>
        <p:nvSpPr>
          <p:cNvPr id="26" name="Shape 24"/>
          <p:cNvSpPr/>
          <p:nvPr/>
        </p:nvSpPr>
        <p:spPr>
          <a:xfrm>
            <a:off x="548640" y="4709160"/>
            <a:ext cx="11091672" cy="1005840"/>
          </a:xfrm>
          <a:prstGeom prst="roundRect">
            <a:avLst>
              <a:gd name="adj" fmla="val 9091"/>
            </a:avLst>
          </a:prstGeom>
          <a:solidFill>
            <a:srgbClr val="F4F7FC"/>
          </a:solidFill>
          <a:ln/>
        </p:spPr>
      </p:sp>
      <p:sp>
        <p:nvSpPr>
          <p:cNvPr id="27" name="Text 25"/>
          <p:cNvSpPr/>
          <p:nvPr/>
        </p:nvSpPr>
        <p:spPr>
          <a:xfrm>
            <a:off x="822960" y="4846320"/>
            <a:ext cx="1828800" cy="274320"/>
          </a:xfrm>
          <a:prstGeom prst="rect">
            <a:avLst/>
          </a:prstGeom>
          <a:noFill/>
          <a:ln/>
        </p:spPr>
        <p:txBody>
          <a:bodyPr wrap="square" lIns="0" tIns="0" rIns="0" bIns="0" rtlCol="0" anchor="ctr"/>
          <a:lstStyle/>
          <a:p>
            <a:pPr indent="0" marL="0">
              <a:buNone/>
            </a:pPr>
            <a:r>
              <a:rPr lang="en-US" sz="1100" b="1" dirty="0">
                <a:solidFill>
                  <a:srgbClr val="E8833A"/>
                </a:solidFill>
                <a:latin typeface="Yu Gothic" pitchFamily="34" charset="0"/>
                <a:ea typeface="Yu Gothic" pitchFamily="34" charset="-122"/>
                <a:cs typeface="Yu Gothic" pitchFamily="34" charset="-120"/>
              </a:rPr>
              <a:t>前提条件</a:t>
            </a:r>
            <a:endParaRPr lang="en-US" sz="1100" dirty="0"/>
          </a:p>
        </p:txBody>
      </p:sp>
      <p:sp>
        <p:nvSpPr>
          <p:cNvPr id="28" name="Text 26"/>
          <p:cNvSpPr/>
          <p:nvPr/>
        </p:nvSpPr>
        <p:spPr>
          <a:xfrm>
            <a:off x="822960" y="5166360"/>
            <a:ext cx="10515600" cy="411480"/>
          </a:xfrm>
          <a:prstGeom prst="rect">
            <a:avLst/>
          </a:prstGeom>
          <a:noFill/>
          <a:ln/>
        </p:spPr>
        <p:txBody>
          <a:bodyPr wrap="square" lIns="0" tIns="0" rIns="0" bIns="0" rtlCol="0" anchor="ctr"/>
          <a:lstStyle/>
          <a:p>
            <a:pPr indent="0" marL="0">
              <a:buNone/>
            </a:pPr>
            <a:r>
              <a:rPr lang="en-US" sz="1300" dirty="0">
                <a:solidFill>
                  <a:srgbClr val="1A1F36"/>
                </a:solidFill>
                <a:latin typeface="Yu Gothic" pitchFamily="34" charset="0"/>
                <a:ea typeface="Yu Gothic" pitchFamily="34" charset="-122"/>
                <a:cs typeface="Yu Gothic" pitchFamily="34" charset="-120"/>
              </a:rPr>
              <a:t>kintoneスタンダードコース ／ 図面PDFを添付した図面管理アプリ</a:t>
            </a:r>
            <a:endParaRPr lang="en-US" sz="1300" dirty="0"/>
          </a:p>
        </p:txBody>
      </p:sp>
      <p:sp>
        <p:nvSpPr>
          <p:cNvPr id="29" name="Text 27"/>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モニターの進め方</a:t>
            </a:r>
            <a:endParaRPr lang="en-US" sz="2900" dirty="0"/>
          </a:p>
        </p:txBody>
      </p:sp>
      <p:sp>
        <p:nvSpPr>
          <p:cNvPr id="3" name="Shape 1"/>
          <p:cNvSpPr/>
          <p:nvPr/>
        </p:nvSpPr>
        <p:spPr>
          <a:xfrm>
            <a:off x="548640" y="1691640"/>
            <a:ext cx="3429000" cy="2834640"/>
          </a:xfrm>
          <a:prstGeom prst="roundRect">
            <a:avLst>
              <a:gd name="adj" fmla="val 3226"/>
            </a:avLst>
          </a:prstGeom>
          <a:solidFill>
            <a:srgbClr val="F4F7FC"/>
          </a:solidFill>
          <a:ln/>
          <a:effectLst>
            <a:outerShdw sx="100000" sy="100000" kx="0" ky="0" algn="bl" rotWithShape="0" blurRad="101600" dist="25400" dir="5400000">
              <a:srgbClr val="1E2761">
                <a:alpha val="12000"/>
              </a:srgbClr>
            </a:outerShdw>
          </a:effectLst>
        </p:spPr>
      </p:sp>
      <p:sp>
        <p:nvSpPr>
          <p:cNvPr id="4" name="Shape 2"/>
          <p:cNvSpPr/>
          <p:nvPr/>
        </p:nvSpPr>
        <p:spPr>
          <a:xfrm>
            <a:off x="804672" y="1929384"/>
            <a:ext cx="512064" cy="512064"/>
          </a:xfrm>
          <a:prstGeom prst="ellipse">
            <a:avLst/>
          </a:prstGeom>
          <a:solidFill>
            <a:srgbClr val="1E2761"/>
          </a:solidFill>
          <a:ln/>
        </p:spPr>
      </p:sp>
      <p:pic>
        <p:nvPicPr>
          <p:cNvPr id="5" name="Image 0" descr="/tmp/claude-0/-home-user-plugbits-plugins/8ace6739-6c8b-5dc3-ad00-7f049c58d65c/scratchpad/icons/FiTarget_white.png">    </p:cNvPr>
          <p:cNvPicPr>
            <a:picLocks noChangeAspect="1"/>
          </p:cNvPicPr>
          <p:nvPr/>
        </p:nvPicPr>
        <p:blipFill>
          <a:blip r:embed="rId1"/>
          <a:stretch>
            <a:fillRect/>
          </a:stretch>
        </p:blipFill>
        <p:spPr>
          <a:xfrm>
            <a:off x="919886" y="2044598"/>
            <a:ext cx="281635" cy="281635"/>
          </a:xfrm>
          <a:prstGeom prst="rect">
            <a:avLst/>
          </a:prstGeom>
        </p:spPr>
      </p:pic>
      <p:sp>
        <p:nvSpPr>
          <p:cNvPr id="6" name="Text 3"/>
          <p:cNvSpPr/>
          <p:nvPr/>
        </p:nvSpPr>
        <p:spPr>
          <a:xfrm>
            <a:off x="804672" y="2551176"/>
            <a:ext cx="2916936" cy="603504"/>
          </a:xfrm>
          <a:prstGeom prst="rect">
            <a:avLst/>
          </a:prstGeom>
          <a:noFill/>
          <a:ln/>
        </p:spPr>
        <p:txBody>
          <a:bodyPr wrap="square" lIns="0" tIns="0" rIns="0" bIns="0" rtlCol="0" anchor="t"/>
          <a:lstStyle/>
          <a:p>
            <a:pPr indent="0" marL="0">
              <a:lnSpc>
                <a:spcPct val="105000"/>
              </a:lnSpc>
              <a:buNone/>
            </a:pPr>
            <a:r>
              <a:rPr lang="en-US" sz="1450" b="1" dirty="0">
                <a:solidFill>
                  <a:srgbClr val="1E2761"/>
                </a:solidFill>
                <a:latin typeface="Yu Gothic" pitchFamily="34" charset="0"/>
                <a:ea typeface="Yu Gothic" pitchFamily="34" charset="-122"/>
                <a:cs typeface="Yu Gothic" pitchFamily="34" charset="-120"/>
              </a:rPr>
              <a:t>Step 1　品質評価</a:t>
            </a:r>
            <a:endParaRPr lang="en-US" sz="1450" dirty="0"/>
          </a:p>
        </p:txBody>
      </p:sp>
      <p:sp>
        <p:nvSpPr>
          <p:cNvPr id="7" name="Text 4"/>
          <p:cNvSpPr/>
          <p:nvPr/>
        </p:nvSpPr>
        <p:spPr>
          <a:xfrm>
            <a:off x="804672" y="3154680"/>
            <a:ext cx="2916936" cy="1188720"/>
          </a:xfrm>
          <a:prstGeom prst="rect">
            <a:avLst/>
          </a:prstGeom>
          <a:noFill/>
          <a:ln/>
        </p:spPr>
        <p:txBody>
          <a:bodyPr wrap="square" lIns="0" tIns="0" rIns="0" bIns="0" rtlCol="0" anchor="t"/>
          <a:lstStyle/>
          <a:p>
            <a:pPr indent="0" marL="0">
              <a:lnSpc>
                <a:spcPct val="118000"/>
              </a:lnSpc>
              <a:buNone/>
            </a:pPr>
            <a:r>
              <a:rPr lang="en-US" sz="1250" dirty="0">
                <a:solidFill>
                  <a:srgbClr val="1A1F36"/>
                </a:solidFill>
                <a:latin typeface="Yu Gothic" pitchFamily="34" charset="0"/>
                <a:ea typeface="Yu Gothic" pitchFamily="34" charset="-122"/>
                <a:cs typeface="Yu Gothic" pitchFamily="34" charset="-120"/>
              </a:rPr>
              <a:t>まず100〜300枚を登録し、検索結果の体感品質を評価していただきます（〜2週間目安）</a:t>
            </a:r>
            <a:endParaRPr lang="en-US" sz="1250" dirty="0"/>
          </a:p>
        </p:txBody>
      </p:sp>
      <p:sp>
        <p:nvSpPr>
          <p:cNvPr id="8" name="Shape 5"/>
          <p:cNvSpPr/>
          <p:nvPr/>
        </p:nvSpPr>
        <p:spPr>
          <a:xfrm>
            <a:off x="4270248" y="1691640"/>
            <a:ext cx="3429000" cy="2834640"/>
          </a:xfrm>
          <a:prstGeom prst="roundRect">
            <a:avLst>
              <a:gd name="adj" fmla="val 3226"/>
            </a:avLst>
          </a:prstGeom>
          <a:solidFill>
            <a:srgbClr val="F4F7FC"/>
          </a:solidFill>
          <a:ln/>
          <a:effectLst>
            <a:outerShdw sx="100000" sy="100000" kx="0" ky="0" algn="bl" rotWithShape="0" blurRad="101600" dist="25400" dir="5400000">
              <a:srgbClr val="1E2761">
                <a:alpha val="12000"/>
              </a:srgbClr>
            </a:outerShdw>
          </a:effectLst>
        </p:spPr>
      </p:sp>
      <p:sp>
        <p:nvSpPr>
          <p:cNvPr id="9" name="Shape 6"/>
          <p:cNvSpPr/>
          <p:nvPr/>
        </p:nvSpPr>
        <p:spPr>
          <a:xfrm>
            <a:off x="4526280" y="1929384"/>
            <a:ext cx="512064" cy="512064"/>
          </a:xfrm>
          <a:prstGeom prst="ellipse">
            <a:avLst/>
          </a:prstGeom>
          <a:solidFill>
            <a:srgbClr val="1E2761"/>
          </a:solidFill>
          <a:ln/>
        </p:spPr>
      </p:sp>
      <p:pic>
        <p:nvPicPr>
          <p:cNvPr id="10" name="Image 1" descr="/tmp/claude-0/-home-user-plugbits-plugins/8ace6739-6c8b-5dc3-ad00-7f049c58d65c/scratchpad/icons/FiMessageSquare_white.png">    </p:cNvPr>
          <p:cNvPicPr>
            <a:picLocks noChangeAspect="1"/>
          </p:cNvPicPr>
          <p:nvPr/>
        </p:nvPicPr>
        <p:blipFill>
          <a:blip r:embed="rId2"/>
          <a:stretch>
            <a:fillRect/>
          </a:stretch>
        </p:blipFill>
        <p:spPr>
          <a:xfrm>
            <a:off x="4641494" y="2044598"/>
            <a:ext cx="281635" cy="281635"/>
          </a:xfrm>
          <a:prstGeom prst="rect">
            <a:avLst/>
          </a:prstGeom>
        </p:spPr>
      </p:pic>
      <p:sp>
        <p:nvSpPr>
          <p:cNvPr id="11" name="Text 7"/>
          <p:cNvSpPr/>
          <p:nvPr/>
        </p:nvSpPr>
        <p:spPr>
          <a:xfrm>
            <a:off x="4526280" y="2551176"/>
            <a:ext cx="2916936" cy="603504"/>
          </a:xfrm>
          <a:prstGeom prst="rect">
            <a:avLst/>
          </a:prstGeom>
          <a:noFill/>
          <a:ln/>
        </p:spPr>
        <p:txBody>
          <a:bodyPr wrap="square" lIns="0" tIns="0" rIns="0" bIns="0" rtlCol="0" anchor="t"/>
          <a:lstStyle/>
          <a:p>
            <a:pPr indent="0" marL="0">
              <a:lnSpc>
                <a:spcPct val="105000"/>
              </a:lnSpc>
              <a:buNone/>
            </a:pPr>
            <a:r>
              <a:rPr lang="en-US" sz="1450" b="1" dirty="0">
                <a:solidFill>
                  <a:srgbClr val="1E2761"/>
                </a:solidFill>
                <a:latin typeface="Yu Gothic" pitchFamily="34" charset="0"/>
                <a:ea typeface="Yu Gothic" pitchFamily="34" charset="-122"/>
                <a:cs typeface="Yu Gothic" pitchFamily="34" charset="-120"/>
              </a:rPr>
              <a:t>Step 2　フィードバック</a:t>
            </a:r>
            <a:endParaRPr lang="en-US" sz="1450" dirty="0"/>
          </a:p>
        </p:txBody>
      </p:sp>
      <p:sp>
        <p:nvSpPr>
          <p:cNvPr id="12" name="Text 8"/>
          <p:cNvSpPr/>
          <p:nvPr/>
        </p:nvSpPr>
        <p:spPr>
          <a:xfrm>
            <a:off x="4526280" y="3154680"/>
            <a:ext cx="2916936" cy="1188720"/>
          </a:xfrm>
          <a:prstGeom prst="rect">
            <a:avLst/>
          </a:prstGeom>
          <a:noFill/>
          <a:ln/>
        </p:spPr>
        <p:txBody>
          <a:bodyPr wrap="square" lIns="0" tIns="0" rIns="0" bIns="0" rtlCol="0" anchor="t"/>
          <a:lstStyle/>
          <a:p>
            <a:pPr indent="0" marL="0">
              <a:lnSpc>
                <a:spcPct val="118000"/>
              </a:lnSpc>
              <a:buNone/>
            </a:pPr>
            <a:r>
              <a:rPr lang="en-US" sz="1250" dirty="0">
                <a:solidFill>
                  <a:srgbClr val="1A1F36"/>
                </a:solidFill>
                <a:latin typeface="Yu Gothic" pitchFamily="34" charset="0"/>
                <a:ea typeface="Yu Gothic" pitchFamily="34" charset="-122"/>
                <a:cs typeface="Yu Gothic" pitchFamily="34" charset="-120"/>
              </a:rPr>
              <a:t>気づきを共有いただき、私たちが改善点を整理します</a:t>
            </a:r>
            <a:endParaRPr lang="en-US" sz="1250" dirty="0"/>
          </a:p>
        </p:txBody>
      </p:sp>
      <p:sp>
        <p:nvSpPr>
          <p:cNvPr id="13" name="Shape 9"/>
          <p:cNvSpPr/>
          <p:nvPr/>
        </p:nvSpPr>
        <p:spPr>
          <a:xfrm>
            <a:off x="7991856" y="1691640"/>
            <a:ext cx="3429000" cy="2834640"/>
          </a:xfrm>
          <a:prstGeom prst="roundRect">
            <a:avLst>
              <a:gd name="adj" fmla="val 3226"/>
            </a:avLst>
          </a:prstGeom>
          <a:solidFill>
            <a:srgbClr val="F4F7FC"/>
          </a:solidFill>
          <a:ln/>
          <a:effectLst>
            <a:outerShdw sx="100000" sy="100000" kx="0" ky="0" algn="bl" rotWithShape="0" blurRad="101600" dist="25400" dir="5400000">
              <a:srgbClr val="1E2761">
                <a:alpha val="12000"/>
              </a:srgbClr>
            </a:outerShdw>
          </a:effectLst>
        </p:spPr>
      </p:sp>
      <p:sp>
        <p:nvSpPr>
          <p:cNvPr id="14" name="Shape 10"/>
          <p:cNvSpPr/>
          <p:nvPr/>
        </p:nvSpPr>
        <p:spPr>
          <a:xfrm>
            <a:off x="8247888" y="1929384"/>
            <a:ext cx="512064" cy="512064"/>
          </a:xfrm>
          <a:prstGeom prst="ellipse">
            <a:avLst/>
          </a:prstGeom>
          <a:solidFill>
            <a:srgbClr val="1E2761"/>
          </a:solidFill>
          <a:ln/>
        </p:spPr>
      </p:sp>
      <p:pic>
        <p:nvPicPr>
          <p:cNvPr id="15" name="Image 2" descr="/tmp/claude-0/-home-user-plugbits-plugins/8ace6739-6c8b-5dc3-ad00-7f049c58d65c/scratchpad/icons/FiTrendingUp_white.png">    </p:cNvPr>
          <p:cNvPicPr>
            <a:picLocks noChangeAspect="1"/>
          </p:cNvPicPr>
          <p:nvPr/>
        </p:nvPicPr>
        <p:blipFill>
          <a:blip r:embed="rId3"/>
          <a:stretch>
            <a:fillRect/>
          </a:stretch>
        </p:blipFill>
        <p:spPr>
          <a:xfrm>
            <a:off x="8363102" y="2044598"/>
            <a:ext cx="281635" cy="281635"/>
          </a:xfrm>
          <a:prstGeom prst="rect">
            <a:avLst/>
          </a:prstGeom>
        </p:spPr>
      </p:pic>
      <p:sp>
        <p:nvSpPr>
          <p:cNvPr id="16" name="Text 11"/>
          <p:cNvSpPr/>
          <p:nvPr/>
        </p:nvSpPr>
        <p:spPr>
          <a:xfrm>
            <a:off x="8247888" y="2551176"/>
            <a:ext cx="2916936" cy="603504"/>
          </a:xfrm>
          <a:prstGeom prst="rect">
            <a:avLst/>
          </a:prstGeom>
          <a:noFill/>
          <a:ln/>
        </p:spPr>
        <p:txBody>
          <a:bodyPr wrap="square" lIns="0" tIns="0" rIns="0" bIns="0" rtlCol="0" anchor="t"/>
          <a:lstStyle/>
          <a:p>
            <a:pPr indent="0" marL="0">
              <a:lnSpc>
                <a:spcPct val="105000"/>
              </a:lnSpc>
              <a:buNone/>
            </a:pPr>
            <a:r>
              <a:rPr lang="en-US" sz="1450" b="1" dirty="0">
                <a:solidFill>
                  <a:srgbClr val="1E2761"/>
                </a:solidFill>
                <a:latin typeface="Yu Gothic" pitchFamily="34" charset="0"/>
                <a:ea typeface="Yu Gothic" pitchFamily="34" charset="-122"/>
                <a:cs typeface="Yu Gothic" pitchFamily="34" charset="-120"/>
              </a:rPr>
              <a:t>Step 3　チューニング</a:t>
            </a:r>
            <a:endParaRPr lang="en-US" sz="1450" dirty="0"/>
          </a:p>
          <a:p>
            <a:pPr indent="0" marL="0">
              <a:lnSpc>
                <a:spcPct val="105000"/>
              </a:lnSpc>
              <a:buNone/>
            </a:pPr>
            <a:r>
              <a:rPr lang="en-US" sz="1450" b="1" dirty="0">
                <a:solidFill>
                  <a:srgbClr val="1E2761"/>
                </a:solidFill>
                <a:latin typeface="Yu Gothic" pitchFamily="34" charset="0"/>
                <a:ea typeface="Yu Gothic" pitchFamily="34" charset="-122"/>
                <a:cs typeface="Yu Gothic" pitchFamily="34" charset="-120"/>
              </a:rPr>
              <a:t>→全件展開</a:t>
            </a:r>
            <a:endParaRPr lang="en-US" sz="1450" dirty="0"/>
          </a:p>
        </p:txBody>
      </p:sp>
      <p:sp>
        <p:nvSpPr>
          <p:cNvPr id="17" name="Text 12"/>
          <p:cNvSpPr/>
          <p:nvPr/>
        </p:nvSpPr>
        <p:spPr>
          <a:xfrm>
            <a:off x="8247888" y="3154680"/>
            <a:ext cx="2916936" cy="1188720"/>
          </a:xfrm>
          <a:prstGeom prst="rect">
            <a:avLst/>
          </a:prstGeom>
          <a:noFill/>
          <a:ln/>
        </p:spPr>
        <p:txBody>
          <a:bodyPr wrap="square" lIns="0" tIns="0" rIns="0" bIns="0" rtlCol="0" anchor="t"/>
          <a:lstStyle/>
          <a:p>
            <a:pPr indent="0" marL="0">
              <a:lnSpc>
                <a:spcPct val="118000"/>
              </a:lnSpc>
              <a:buNone/>
            </a:pPr>
            <a:r>
              <a:rPr lang="en-US" sz="1250" dirty="0">
                <a:solidFill>
                  <a:srgbClr val="1A1F36"/>
                </a:solidFill>
                <a:latin typeface="Yu Gothic" pitchFamily="34" charset="0"/>
                <a:ea typeface="Yu Gothic" pitchFamily="34" charset="-122"/>
                <a:cs typeface="Yu Gothic" pitchFamily="34" charset="-120"/>
              </a:rPr>
              <a:t>評価を反映してチューニングを行い、全図面へ展開します</a:t>
            </a:r>
            <a:endParaRPr lang="en-US" sz="1250" dirty="0"/>
          </a:p>
        </p:txBody>
      </p:sp>
      <p:sp>
        <p:nvSpPr>
          <p:cNvPr id="18" name="Shape 13"/>
          <p:cNvSpPr/>
          <p:nvPr/>
        </p:nvSpPr>
        <p:spPr>
          <a:xfrm>
            <a:off x="548640" y="4800600"/>
            <a:ext cx="11091672" cy="1234440"/>
          </a:xfrm>
          <a:prstGeom prst="roundRect">
            <a:avLst>
              <a:gd name="adj" fmla="val 7407"/>
            </a:avLst>
          </a:prstGeom>
          <a:solidFill>
            <a:srgbClr val="F4F7FC"/>
          </a:solidFill>
          <a:ln/>
        </p:spPr>
      </p:sp>
      <p:sp>
        <p:nvSpPr>
          <p:cNvPr id="19" name="Text 14"/>
          <p:cNvSpPr/>
          <p:nvPr/>
        </p:nvSpPr>
        <p:spPr>
          <a:xfrm>
            <a:off x="822960" y="4946904"/>
            <a:ext cx="1828800" cy="274320"/>
          </a:xfrm>
          <a:prstGeom prst="rect">
            <a:avLst/>
          </a:prstGeom>
          <a:noFill/>
          <a:ln/>
        </p:spPr>
        <p:txBody>
          <a:bodyPr wrap="square" lIns="0" tIns="0" rIns="0" bIns="0" rtlCol="0" anchor="ctr"/>
          <a:lstStyle/>
          <a:p>
            <a:pPr indent="0" marL="0">
              <a:buNone/>
            </a:pPr>
            <a:r>
              <a:rPr lang="en-US" sz="1100" b="1" dirty="0">
                <a:solidFill>
                  <a:srgbClr val="E8833A"/>
                </a:solidFill>
                <a:latin typeface="Yu Gothic" pitchFamily="34" charset="0"/>
                <a:ea typeface="Yu Gothic" pitchFamily="34" charset="-122"/>
                <a:cs typeface="Yu Gothic" pitchFamily="34" charset="-120"/>
              </a:rPr>
              <a:t>評価観点</a:t>
            </a:r>
            <a:endParaRPr lang="en-US" sz="1100" dirty="0"/>
          </a:p>
        </p:txBody>
      </p:sp>
      <p:sp>
        <p:nvSpPr>
          <p:cNvPr id="20" name="Text 15"/>
          <p:cNvSpPr/>
          <p:nvPr/>
        </p:nvSpPr>
        <p:spPr>
          <a:xfrm>
            <a:off x="822960" y="5257800"/>
            <a:ext cx="10515600" cy="68580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1A1F36"/>
                </a:solidFill>
                <a:latin typeface="Yu Gothic" pitchFamily="34" charset="0"/>
                <a:ea typeface="Yu Gothic" pitchFamily="34" charset="-122"/>
                <a:cs typeface="Yu Gothic" pitchFamily="34" charset="-120"/>
              </a:rPr>
              <a:t>上位に欲しい図面が出るか</a:t>
            </a:r>
            <a:endParaRPr lang="en-US" sz="1250" dirty="0"/>
          </a:p>
          <a:p>
            <a:pPr marL="342900" indent="-342900">
              <a:spcAft>
                <a:spcPts val="400"/>
              </a:spcAft>
              <a:buSzPct val="100000"/>
              <a:buChar char="•"/>
            </a:pPr>
            <a:r>
              <a:rPr lang="en-US" sz="1250" dirty="0">
                <a:solidFill>
                  <a:srgbClr val="1A1F36"/>
                </a:solidFill>
                <a:latin typeface="Yu Gothic" pitchFamily="34" charset="0"/>
                <a:ea typeface="Yu Gothic" pitchFamily="34" charset="-122"/>
                <a:cs typeface="Yu Gothic" pitchFamily="34" charset="-120"/>
              </a:rPr>
              <a:t>スコアの納得感</a:t>
            </a:r>
            <a:endParaRPr lang="en-US" sz="1250" dirty="0"/>
          </a:p>
          <a:p>
            <a:pPr marL="342900" indent="-342900">
              <a:spcAft>
                <a:spcPts val="400"/>
              </a:spcAft>
              <a:buSzPct val="100000"/>
              <a:buChar char="•"/>
            </a:pPr>
            <a:r>
              <a:rPr lang="en-US" sz="1250" dirty="0">
                <a:solidFill>
                  <a:srgbClr val="1A1F36"/>
                </a:solidFill>
                <a:latin typeface="Yu Gothic" pitchFamily="34" charset="0"/>
                <a:ea typeface="Yu Gothic" pitchFamily="34" charset="-122"/>
                <a:cs typeface="Yu Gothic" pitchFamily="34" charset="-120"/>
              </a:rPr>
              <a:t>業務のどの場面で役立ったか</a:t>
            </a:r>
            <a:endParaRPr lang="en-US" sz="1250" dirty="0"/>
          </a:p>
        </p:txBody>
      </p:sp>
      <p:sp>
        <p:nvSpPr>
          <p:cNvPr id="21" name="Text 16"/>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現時点の制約と今後の予定</a:t>
            </a:r>
            <a:endParaRPr lang="en-US" sz="2900" dirty="0"/>
          </a:p>
        </p:txBody>
      </p:sp>
      <p:sp>
        <p:nvSpPr>
          <p:cNvPr id="3" name="Shape 1"/>
          <p:cNvSpPr/>
          <p:nvPr/>
        </p:nvSpPr>
        <p:spPr>
          <a:xfrm>
            <a:off x="548640" y="1691640"/>
            <a:ext cx="5257800" cy="4480560"/>
          </a:xfrm>
          <a:prstGeom prst="roundRect">
            <a:avLst>
              <a:gd name="adj" fmla="val 2041"/>
            </a:avLst>
          </a:prstGeom>
          <a:solidFill>
            <a:srgbClr val="F4F7FC"/>
          </a:solidFill>
          <a:ln/>
        </p:spPr>
      </p:sp>
      <p:sp>
        <p:nvSpPr>
          <p:cNvPr id="4" name="Shape 2"/>
          <p:cNvSpPr/>
          <p:nvPr/>
        </p:nvSpPr>
        <p:spPr>
          <a:xfrm>
            <a:off x="804672" y="1947672"/>
            <a:ext cx="512064" cy="512064"/>
          </a:xfrm>
          <a:prstGeom prst="ellipse">
            <a:avLst/>
          </a:prstGeom>
          <a:solidFill>
            <a:srgbClr val="E8833A"/>
          </a:solidFill>
          <a:ln/>
        </p:spPr>
      </p:sp>
      <p:pic>
        <p:nvPicPr>
          <p:cNvPr id="5" name="Image 0" descr="/tmp/claude-0/-home-user-plugbits-plugins/8ace6739-6c8b-5dc3-ad00-7f049c58d65c/scratchpad/icons/FiAlertTriangle_white.png">    </p:cNvPr>
          <p:cNvPicPr>
            <a:picLocks noChangeAspect="1"/>
          </p:cNvPicPr>
          <p:nvPr/>
        </p:nvPicPr>
        <p:blipFill>
          <a:blip r:embed="rId1"/>
          <a:stretch>
            <a:fillRect/>
          </a:stretch>
        </p:blipFill>
        <p:spPr>
          <a:xfrm>
            <a:off x="919886" y="2062886"/>
            <a:ext cx="281635" cy="281635"/>
          </a:xfrm>
          <a:prstGeom prst="rect">
            <a:avLst/>
          </a:prstGeom>
        </p:spPr>
      </p:pic>
      <p:sp>
        <p:nvSpPr>
          <p:cNvPr id="6" name="Text 3"/>
          <p:cNvSpPr/>
          <p:nvPr/>
        </p:nvSpPr>
        <p:spPr>
          <a:xfrm>
            <a:off x="1463040" y="1984248"/>
            <a:ext cx="4069080" cy="457200"/>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ご了承いただきたいこと</a:t>
            </a:r>
            <a:endParaRPr lang="en-US" sz="1550" dirty="0"/>
          </a:p>
        </p:txBody>
      </p:sp>
      <p:sp>
        <p:nvSpPr>
          <p:cNvPr id="7" name="Text 4"/>
          <p:cNvSpPr/>
          <p:nvPr/>
        </p:nvSpPr>
        <p:spPr>
          <a:xfrm>
            <a:off x="804672" y="2651760"/>
            <a:ext cx="4745736" cy="329184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250" dirty="0">
                <a:solidFill>
                  <a:srgbClr val="1A1F36"/>
                </a:solidFill>
                <a:latin typeface="Yu Gothic" pitchFamily="34" charset="0"/>
                <a:ea typeface="Yu Gothic" pitchFamily="34" charset="-122"/>
                <a:cs typeface="Yu Gothic" pitchFamily="34" charset="-120"/>
              </a:rPr>
              <a:t>検索精度は図面の種類・作図スタイルに依存します（モニターで一緒に改善していく前提です）</a:t>
            </a:r>
            <a:endParaRPr lang="en-US" sz="1250" dirty="0"/>
          </a:p>
          <a:p>
            <a:pPr marL="342900" indent="-342900">
              <a:lnSpc>
                <a:spcPct val="120000"/>
              </a:lnSpc>
              <a:spcAft>
                <a:spcPts val="1200"/>
              </a:spcAft>
              <a:buSzPct val="100000"/>
              <a:buChar char="•"/>
            </a:pPr>
            <a:r>
              <a:rPr lang="en-US" sz="1250" dirty="0">
                <a:solidFill>
                  <a:srgbClr val="1A1F36"/>
                </a:solidFill>
                <a:latin typeface="Yu Gothic" pitchFamily="34" charset="0"/>
                <a:ea typeface="Yu Gothic" pitchFamily="34" charset="-122"/>
                <a:cs typeface="Yu Gothic" pitchFamily="34" charset="-120"/>
              </a:rPr>
              <a:t>スコアは相対的な目安です</a:t>
            </a:r>
            <a:endParaRPr lang="en-US" sz="1250" dirty="0"/>
          </a:p>
          <a:p>
            <a:pPr marL="342900" indent="-342900">
              <a:lnSpc>
                <a:spcPct val="120000"/>
              </a:lnSpc>
              <a:spcAft>
                <a:spcPts val="1200"/>
              </a:spcAft>
              <a:buSzPct val="100000"/>
              <a:buChar char="•"/>
            </a:pPr>
            <a:r>
              <a:rPr lang="en-US" sz="1250" dirty="0">
                <a:solidFill>
                  <a:srgbClr val="1A1F36"/>
                </a:solidFill>
                <a:latin typeface="Yu Gothic" pitchFamily="34" charset="0"/>
                <a:ea typeface="Yu Gothic" pitchFamily="34" charset="-122"/>
                <a:cs typeface="Yu Gothic" pitchFamily="34" charset="-120"/>
              </a:rPr>
              <a:t>検索対象はPDFの1ページ目です</a:t>
            </a:r>
            <a:endParaRPr lang="en-US" sz="1250" dirty="0"/>
          </a:p>
          <a:p>
            <a:pPr marL="342900" indent="-342900">
              <a:lnSpc>
                <a:spcPct val="120000"/>
              </a:lnSpc>
              <a:spcAft>
                <a:spcPts val="1200"/>
              </a:spcAft>
              <a:buSzPct val="100000"/>
              <a:buChar char="•"/>
            </a:pPr>
            <a:r>
              <a:rPr lang="en-US" sz="1250" dirty="0">
                <a:solidFill>
                  <a:srgbClr val="1A1F36"/>
                </a:solidFill>
                <a:latin typeface="Yu Gothic" pitchFamily="34" charset="0"/>
                <a:ea typeface="Yu Gothic" pitchFamily="34" charset="-122"/>
                <a:cs typeface="Yu Gothic" pitchFamily="34" charset="-120"/>
              </a:rPr>
              <a:t>しばらく未使用の後の初回検索は、起動に数十秒かかる場合があります</a:t>
            </a:r>
            <a:endParaRPr lang="en-US" sz="1250" dirty="0"/>
          </a:p>
        </p:txBody>
      </p:sp>
      <p:sp>
        <p:nvSpPr>
          <p:cNvPr id="8" name="Shape 5"/>
          <p:cNvSpPr/>
          <p:nvPr/>
        </p:nvSpPr>
        <p:spPr>
          <a:xfrm>
            <a:off x="6382512" y="1691640"/>
            <a:ext cx="5257800" cy="4480560"/>
          </a:xfrm>
          <a:prstGeom prst="roundRect">
            <a:avLst>
              <a:gd name="adj" fmla="val 2041"/>
            </a:avLst>
          </a:prstGeom>
          <a:solidFill>
            <a:srgbClr val="F4F7FC"/>
          </a:solidFill>
          <a:ln/>
        </p:spPr>
      </p:sp>
      <p:sp>
        <p:nvSpPr>
          <p:cNvPr id="9" name="Shape 6"/>
          <p:cNvSpPr/>
          <p:nvPr/>
        </p:nvSpPr>
        <p:spPr>
          <a:xfrm>
            <a:off x="6638544" y="1947672"/>
            <a:ext cx="512064" cy="512064"/>
          </a:xfrm>
          <a:prstGeom prst="ellipse">
            <a:avLst/>
          </a:prstGeom>
          <a:solidFill>
            <a:srgbClr val="1E2761"/>
          </a:solidFill>
          <a:ln/>
        </p:spPr>
      </p:sp>
      <p:pic>
        <p:nvPicPr>
          <p:cNvPr id="10" name="Image 1" descr="/tmp/claude-0/-home-user-plugbits-plugins/8ace6739-6c8b-5dc3-ad00-7f049c58d65c/scratchpad/icons/FiMap_white.png">    </p:cNvPr>
          <p:cNvPicPr>
            <a:picLocks noChangeAspect="1"/>
          </p:cNvPicPr>
          <p:nvPr/>
        </p:nvPicPr>
        <p:blipFill>
          <a:blip r:embed="rId2"/>
          <a:stretch>
            <a:fillRect/>
          </a:stretch>
        </p:blipFill>
        <p:spPr>
          <a:xfrm>
            <a:off x="6753758" y="2062886"/>
            <a:ext cx="281635" cy="281635"/>
          </a:xfrm>
          <a:prstGeom prst="rect">
            <a:avLst/>
          </a:prstGeom>
        </p:spPr>
      </p:pic>
      <p:sp>
        <p:nvSpPr>
          <p:cNvPr id="11" name="Text 7"/>
          <p:cNvSpPr/>
          <p:nvPr/>
        </p:nvSpPr>
        <p:spPr>
          <a:xfrm>
            <a:off x="7296912" y="1984248"/>
            <a:ext cx="4069080" cy="457200"/>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今後の予定</a:t>
            </a:r>
            <a:endParaRPr lang="en-US" sz="1550" dirty="0"/>
          </a:p>
        </p:txBody>
      </p:sp>
      <p:sp>
        <p:nvSpPr>
          <p:cNvPr id="12" name="Text 8"/>
          <p:cNvSpPr/>
          <p:nvPr/>
        </p:nvSpPr>
        <p:spPr>
          <a:xfrm>
            <a:off x="6638544" y="2651760"/>
            <a:ext cx="4745736" cy="329184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250" dirty="0">
                <a:solidFill>
                  <a:srgbClr val="1A1F36"/>
                </a:solidFill>
                <a:latin typeface="Yu Gothic" pitchFamily="34" charset="0"/>
                <a:ea typeface="Yu Gothic" pitchFamily="34" charset="-122"/>
                <a:cs typeface="Yu Gothic" pitchFamily="34" charset="-120"/>
              </a:rPr>
              <a:t>過去図面アーカイブ検索の本格提供</a:t>
            </a:r>
            <a:endParaRPr lang="en-US" sz="1250" dirty="0"/>
          </a:p>
          <a:p>
            <a:pPr marL="342900" indent="-342900">
              <a:lnSpc>
                <a:spcPct val="120000"/>
              </a:lnSpc>
              <a:spcAft>
                <a:spcPts val="1200"/>
              </a:spcAft>
              <a:buSzPct val="100000"/>
              <a:buChar char="•"/>
            </a:pPr>
            <a:r>
              <a:rPr lang="en-US" sz="1250" dirty="0">
                <a:solidFill>
                  <a:srgbClr val="1A1F36"/>
                </a:solidFill>
                <a:latin typeface="Yu Gothic" pitchFamily="34" charset="0"/>
                <a:ea typeface="Yu Gothic" pitchFamily="34" charset="-122"/>
                <a:cs typeface="Yu Gothic" pitchFamily="34" charset="-120"/>
              </a:rPr>
              <a:t>精度チューニングの継続</a:t>
            </a:r>
            <a:endParaRPr lang="en-US" sz="1250" dirty="0"/>
          </a:p>
          <a:p>
            <a:pPr marL="342900" indent="-342900">
              <a:lnSpc>
                <a:spcPct val="120000"/>
              </a:lnSpc>
              <a:spcAft>
                <a:spcPts val="1200"/>
              </a:spcAft>
              <a:buSzPct val="100000"/>
              <a:buChar char="•"/>
            </a:pPr>
            <a:r>
              <a:rPr lang="en-US" sz="1250" dirty="0">
                <a:solidFill>
                  <a:srgbClr val="1A1F36"/>
                </a:solidFill>
                <a:latin typeface="Yu Gothic" pitchFamily="34" charset="0"/>
                <a:ea typeface="Yu Gothic" pitchFamily="34" charset="-122"/>
                <a:cs typeface="Yu Gothic" pitchFamily="34" charset="-120"/>
              </a:rPr>
              <a:t>管理機能の拡充</a:t>
            </a:r>
            <a:endParaRPr lang="en-US" sz="1250" dirty="0"/>
          </a:p>
        </p:txBody>
      </p:sp>
      <p:sp>
        <p:nvSpPr>
          <p:cNvPr id="13"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algn="l" indent="0" marL="0">
              <a:buNone/>
            </a:pPr>
            <a:r>
              <a:rPr lang="en-US" sz="2900" b="1" dirty="0">
                <a:solidFill>
                  <a:srgbClr val="1E2761"/>
                </a:solidFill>
                <a:latin typeface="Yu Gothic" pitchFamily="34" charset="0"/>
                <a:ea typeface="Yu Gothic" pitchFamily="34" charset="-122"/>
                <a:cs typeface="Yu Gothic" pitchFamily="34" charset="-120"/>
              </a:rPr>
              <a:t>お願いしたいこと</a:t>
            </a:r>
            <a:endParaRPr lang="en-US" sz="2900" dirty="0"/>
          </a:p>
        </p:txBody>
      </p:sp>
      <p:sp>
        <p:nvSpPr>
          <p:cNvPr id="3" name="Shape 1"/>
          <p:cNvSpPr/>
          <p:nvPr/>
        </p:nvSpPr>
        <p:spPr>
          <a:xfrm>
            <a:off x="548640" y="1783080"/>
            <a:ext cx="11091672" cy="777240"/>
          </a:xfrm>
          <a:prstGeom prst="roundRect">
            <a:avLst>
              <a:gd name="adj" fmla="val 11765"/>
            </a:avLst>
          </a:prstGeom>
          <a:solidFill>
            <a:srgbClr val="F4F7FC"/>
          </a:solidFill>
          <a:ln/>
        </p:spPr>
      </p:sp>
      <p:sp>
        <p:nvSpPr>
          <p:cNvPr id="4" name="Shape 2"/>
          <p:cNvSpPr/>
          <p:nvPr/>
        </p:nvSpPr>
        <p:spPr>
          <a:xfrm>
            <a:off x="777240" y="1915668"/>
            <a:ext cx="512064" cy="512064"/>
          </a:xfrm>
          <a:prstGeom prst="ellipse">
            <a:avLst/>
          </a:prstGeom>
          <a:solidFill>
            <a:srgbClr val="1E2761"/>
          </a:solidFill>
          <a:ln/>
        </p:spPr>
      </p:sp>
      <p:pic>
        <p:nvPicPr>
          <p:cNvPr id="5" name="Image 0" descr="/tmp/claude-0/-home-user-plugbits-plugins/8ace6739-6c8b-5dc3-ad00-7f049c58d65c/scratchpad/icons/FiCheckCircle_white.png">    </p:cNvPr>
          <p:cNvPicPr>
            <a:picLocks noChangeAspect="1"/>
          </p:cNvPicPr>
          <p:nvPr/>
        </p:nvPicPr>
        <p:blipFill>
          <a:blip r:embed="rId1"/>
          <a:stretch>
            <a:fillRect/>
          </a:stretch>
        </p:blipFill>
        <p:spPr>
          <a:xfrm>
            <a:off x="892454" y="2030882"/>
            <a:ext cx="281635" cy="281635"/>
          </a:xfrm>
          <a:prstGeom prst="rect">
            <a:avLst/>
          </a:prstGeom>
        </p:spPr>
      </p:pic>
      <p:sp>
        <p:nvSpPr>
          <p:cNvPr id="6" name="Text 3"/>
          <p:cNvSpPr/>
          <p:nvPr/>
        </p:nvSpPr>
        <p:spPr>
          <a:xfrm>
            <a:off x="1508760" y="1783080"/>
            <a:ext cx="9811512" cy="777240"/>
          </a:xfrm>
          <a:prstGeom prst="rect">
            <a:avLst/>
          </a:prstGeom>
          <a:noFill/>
          <a:ln/>
        </p:spPr>
        <p:txBody>
          <a:bodyPr wrap="square" lIns="0" tIns="0" rIns="0" bIns="0" rtlCol="0" anchor="ctr"/>
          <a:lstStyle/>
          <a:p>
            <a:pPr indent="0" marL="0">
              <a:buNone/>
            </a:pPr>
            <a:r>
              <a:rPr lang="en-US" sz="1500" b="1" dirty="0">
                <a:solidFill>
                  <a:srgbClr val="1A1F36"/>
                </a:solidFill>
                <a:latin typeface="Yu Gothic" pitchFamily="34" charset="0"/>
                <a:ea typeface="Yu Gothic" pitchFamily="34" charset="-122"/>
                <a:cs typeface="Yu Gothic" pitchFamily="34" charset="-120"/>
              </a:rPr>
              <a:t>実際の図面データでの品質評価</a:t>
            </a:r>
            <a:endParaRPr lang="en-US" sz="1500" dirty="0"/>
          </a:p>
        </p:txBody>
      </p:sp>
      <p:sp>
        <p:nvSpPr>
          <p:cNvPr id="7" name="Shape 4"/>
          <p:cNvSpPr/>
          <p:nvPr/>
        </p:nvSpPr>
        <p:spPr>
          <a:xfrm>
            <a:off x="548640" y="2743200"/>
            <a:ext cx="11091672" cy="777240"/>
          </a:xfrm>
          <a:prstGeom prst="roundRect">
            <a:avLst>
              <a:gd name="adj" fmla="val 11765"/>
            </a:avLst>
          </a:prstGeom>
          <a:solidFill>
            <a:srgbClr val="F4F7FC"/>
          </a:solidFill>
          <a:ln/>
        </p:spPr>
      </p:sp>
      <p:sp>
        <p:nvSpPr>
          <p:cNvPr id="8" name="Shape 5"/>
          <p:cNvSpPr/>
          <p:nvPr/>
        </p:nvSpPr>
        <p:spPr>
          <a:xfrm>
            <a:off x="777240" y="2875788"/>
            <a:ext cx="512064" cy="512064"/>
          </a:xfrm>
          <a:prstGeom prst="ellipse">
            <a:avLst/>
          </a:prstGeom>
          <a:solidFill>
            <a:srgbClr val="1E2761"/>
          </a:solidFill>
          <a:ln/>
        </p:spPr>
      </p:sp>
      <p:pic>
        <p:nvPicPr>
          <p:cNvPr id="9" name="Image 1" descr="/tmp/claude-0/-home-user-plugbits-plugins/8ace6739-6c8b-5dc3-ad00-7f049c58d65c/scratchpad/icons/FiMessageSquare_white.png">    </p:cNvPr>
          <p:cNvPicPr>
            <a:picLocks noChangeAspect="1"/>
          </p:cNvPicPr>
          <p:nvPr/>
        </p:nvPicPr>
        <p:blipFill>
          <a:blip r:embed="rId2"/>
          <a:stretch>
            <a:fillRect/>
          </a:stretch>
        </p:blipFill>
        <p:spPr>
          <a:xfrm>
            <a:off x="892454" y="2991002"/>
            <a:ext cx="281635" cy="281635"/>
          </a:xfrm>
          <a:prstGeom prst="rect">
            <a:avLst/>
          </a:prstGeom>
        </p:spPr>
      </p:pic>
      <p:sp>
        <p:nvSpPr>
          <p:cNvPr id="10" name="Text 6"/>
          <p:cNvSpPr/>
          <p:nvPr/>
        </p:nvSpPr>
        <p:spPr>
          <a:xfrm>
            <a:off x="1508760" y="2743200"/>
            <a:ext cx="9811512" cy="777240"/>
          </a:xfrm>
          <a:prstGeom prst="rect">
            <a:avLst/>
          </a:prstGeom>
          <a:noFill/>
          <a:ln/>
        </p:spPr>
        <p:txBody>
          <a:bodyPr wrap="square" lIns="0" tIns="0" rIns="0" bIns="0" rtlCol="0" anchor="ctr"/>
          <a:lstStyle/>
          <a:p>
            <a:pPr indent="0" marL="0">
              <a:buNone/>
            </a:pPr>
            <a:r>
              <a:rPr lang="en-US" sz="1500" b="1" dirty="0">
                <a:solidFill>
                  <a:srgbClr val="1A1F36"/>
                </a:solidFill>
                <a:latin typeface="Yu Gothic" pitchFamily="34" charset="0"/>
                <a:ea typeface="Yu Gothic" pitchFamily="34" charset="-122"/>
                <a:cs typeface="Yu Gothic" pitchFamily="34" charset="-120"/>
              </a:rPr>
              <a:t>定期的な気づきの共有（週次目安）</a:t>
            </a:r>
            <a:endParaRPr lang="en-US" sz="1500" dirty="0"/>
          </a:p>
        </p:txBody>
      </p:sp>
      <p:sp>
        <p:nvSpPr>
          <p:cNvPr id="11" name="Shape 7"/>
          <p:cNvSpPr/>
          <p:nvPr/>
        </p:nvSpPr>
        <p:spPr>
          <a:xfrm>
            <a:off x="548640" y="3703320"/>
            <a:ext cx="11091672" cy="777240"/>
          </a:xfrm>
          <a:prstGeom prst="roundRect">
            <a:avLst>
              <a:gd name="adj" fmla="val 11765"/>
            </a:avLst>
          </a:prstGeom>
          <a:solidFill>
            <a:srgbClr val="F4F7FC"/>
          </a:solidFill>
          <a:ln/>
        </p:spPr>
      </p:sp>
      <p:sp>
        <p:nvSpPr>
          <p:cNvPr id="12" name="Shape 8"/>
          <p:cNvSpPr/>
          <p:nvPr/>
        </p:nvSpPr>
        <p:spPr>
          <a:xfrm>
            <a:off x="777240" y="3835908"/>
            <a:ext cx="512064" cy="512064"/>
          </a:xfrm>
          <a:prstGeom prst="ellipse">
            <a:avLst/>
          </a:prstGeom>
          <a:solidFill>
            <a:srgbClr val="1E2761"/>
          </a:solidFill>
          <a:ln/>
        </p:spPr>
      </p:sp>
      <p:pic>
        <p:nvPicPr>
          <p:cNvPr id="13" name="Image 2" descr="/tmp/claude-0/-home-user-plugbits-plugins/8ace6739-6c8b-5dc3-ad00-7f049c58d65c/scratchpad/icons/FiEye_white.png">    </p:cNvPr>
          <p:cNvPicPr>
            <a:picLocks noChangeAspect="1"/>
          </p:cNvPicPr>
          <p:nvPr/>
        </p:nvPicPr>
        <p:blipFill>
          <a:blip r:embed="rId3"/>
          <a:stretch>
            <a:fillRect/>
          </a:stretch>
        </p:blipFill>
        <p:spPr>
          <a:xfrm>
            <a:off x="892454" y="3951122"/>
            <a:ext cx="281635" cy="281635"/>
          </a:xfrm>
          <a:prstGeom prst="rect">
            <a:avLst/>
          </a:prstGeom>
        </p:spPr>
      </p:pic>
      <p:sp>
        <p:nvSpPr>
          <p:cNvPr id="14" name="Text 9"/>
          <p:cNvSpPr/>
          <p:nvPr/>
        </p:nvSpPr>
        <p:spPr>
          <a:xfrm>
            <a:off x="1508760" y="3703320"/>
            <a:ext cx="9811512" cy="777240"/>
          </a:xfrm>
          <a:prstGeom prst="rect">
            <a:avLst/>
          </a:prstGeom>
          <a:noFill/>
          <a:ln/>
        </p:spPr>
        <p:txBody>
          <a:bodyPr wrap="square" lIns="0" tIns="0" rIns="0" bIns="0" rtlCol="0" anchor="ctr"/>
          <a:lstStyle/>
          <a:p>
            <a:pPr indent="0" marL="0">
              <a:buNone/>
            </a:pPr>
            <a:r>
              <a:rPr lang="en-US" sz="1500" b="1" dirty="0">
                <a:solidFill>
                  <a:srgbClr val="1A1F36"/>
                </a:solidFill>
                <a:latin typeface="Yu Gothic" pitchFamily="34" charset="0"/>
                <a:ea typeface="Yu Gothic" pitchFamily="34" charset="-122"/>
                <a:cs typeface="Yu Gothic" pitchFamily="34" charset="-120"/>
              </a:rPr>
              <a:t>業務フローの中で使える場面の発見</a:t>
            </a:r>
            <a:endParaRPr lang="en-US" sz="1500" dirty="0"/>
          </a:p>
        </p:txBody>
      </p:sp>
      <p:sp>
        <p:nvSpPr>
          <p:cNvPr id="15" name="Shape 10"/>
          <p:cNvSpPr/>
          <p:nvPr/>
        </p:nvSpPr>
        <p:spPr>
          <a:xfrm>
            <a:off x="548640" y="4800600"/>
            <a:ext cx="11091672" cy="868680"/>
          </a:xfrm>
          <a:prstGeom prst="roundRect">
            <a:avLst>
              <a:gd name="adj" fmla="val 10526"/>
            </a:avLst>
          </a:prstGeom>
          <a:solidFill>
            <a:srgbClr val="1E2761"/>
          </a:solidFill>
          <a:ln/>
        </p:spPr>
      </p:sp>
      <p:sp>
        <p:nvSpPr>
          <p:cNvPr id="16" name="Shape 11"/>
          <p:cNvSpPr/>
          <p:nvPr/>
        </p:nvSpPr>
        <p:spPr>
          <a:xfrm>
            <a:off x="804672" y="4965192"/>
            <a:ext cx="548640" cy="548640"/>
          </a:xfrm>
          <a:prstGeom prst="ellipse">
            <a:avLst/>
          </a:prstGeom>
          <a:solidFill>
            <a:srgbClr val="CADCFC"/>
          </a:solidFill>
          <a:ln/>
        </p:spPr>
      </p:sp>
      <p:pic>
        <p:nvPicPr>
          <p:cNvPr id="17" name="Image 3" descr="/tmp/claude-0/-home-user-plugbits-plugins/8ace6739-6c8b-5dc3-ad00-7f049c58d65c/scratchpad/icons/FiMail_navy.png">    </p:cNvPr>
          <p:cNvPicPr>
            <a:picLocks noChangeAspect="1"/>
          </p:cNvPicPr>
          <p:nvPr/>
        </p:nvPicPr>
        <p:blipFill>
          <a:blip r:embed="rId4"/>
          <a:stretch>
            <a:fillRect/>
          </a:stretch>
        </p:blipFill>
        <p:spPr>
          <a:xfrm>
            <a:off x="928116" y="5088636"/>
            <a:ext cx="301752" cy="301752"/>
          </a:xfrm>
          <a:prstGeom prst="rect">
            <a:avLst/>
          </a:prstGeom>
        </p:spPr>
      </p:pic>
      <p:sp>
        <p:nvSpPr>
          <p:cNvPr id="18" name="Text 12"/>
          <p:cNvSpPr/>
          <p:nvPr/>
        </p:nvSpPr>
        <p:spPr>
          <a:xfrm>
            <a:off x="1554480" y="4937760"/>
            <a:ext cx="9811512" cy="320040"/>
          </a:xfrm>
          <a:prstGeom prst="rect">
            <a:avLst/>
          </a:prstGeom>
          <a:noFill/>
          <a:ln/>
        </p:spPr>
        <p:txBody>
          <a:bodyPr wrap="square" lIns="0" tIns="0" rIns="0" bIns="0" rtlCol="0" anchor="ctr"/>
          <a:lstStyle/>
          <a:p>
            <a:pPr indent="0" marL="0">
              <a:buNone/>
            </a:pPr>
            <a:r>
              <a:rPr lang="en-US" sz="1400" b="1" dirty="0">
                <a:solidFill>
                  <a:srgbClr val="FFFFFF"/>
                </a:solidFill>
                <a:latin typeface="Yu Gothic" pitchFamily="34" charset="0"/>
                <a:ea typeface="Yu Gothic" pitchFamily="34" charset="-122"/>
                <a:cs typeface="Yu Gothic" pitchFamily="34" charset="-120"/>
              </a:rPr>
              <a:t>PlugBits サポート窓口</a:t>
            </a:r>
            <a:endParaRPr lang="en-US" sz="1400" dirty="0"/>
          </a:p>
        </p:txBody>
      </p:sp>
      <p:sp>
        <p:nvSpPr>
          <p:cNvPr id="19" name="Text 13"/>
          <p:cNvSpPr/>
          <p:nvPr/>
        </p:nvSpPr>
        <p:spPr>
          <a:xfrm>
            <a:off x="1554480" y="5257800"/>
            <a:ext cx="9811512" cy="320040"/>
          </a:xfrm>
          <a:prstGeom prst="rect">
            <a:avLst/>
          </a:prstGeom>
          <a:noFill/>
          <a:ln/>
        </p:spPr>
        <p:txBody>
          <a:bodyPr wrap="square" lIns="0" tIns="0" rIns="0" bIns="0" rtlCol="0" anchor="ctr"/>
          <a:lstStyle/>
          <a:p>
            <a:pPr indent="0" marL="0">
              <a:buNone/>
            </a:pPr>
            <a:r>
              <a:rPr lang="en-US" sz="1150" dirty="0">
                <a:solidFill>
                  <a:srgbClr val="CADCFC"/>
                </a:solidFill>
                <a:latin typeface="Yu Gothic" pitchFamily="34" charset="0"/>
                <a:ea typeface="Yu Gothic" pitchFamily="34" charset="-122"/>
                <a:cs typeface="Yu Gothic" pitchFamily="34" charset="-120"/>
              </a:rPr>
              <a:t>連絡先は別途ご案内いたします</a:t>
            </a:r>
            <a:endParaRPr lang="en-US" sz="1150" dirty="0"/>
          </a:p>
        </p:txBody>
      </p:sp>
      <p:sp>
        <p:nvSpPr>
          <p:cNvPr id="20" name="Text 1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Yu Gothic" pitchFamily="34" charset="0"/>
                <a:ea typeface="Yu Gothic" pitchFamily="34" charset="-122"/>
                <a:cs typeface="Yu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77240" y="0"/>
            <a:ext cx="0" cy="6858000"/>
          </a:xfrm>
          <a:prstGeom prst="line">
            <a:avLst/>
          </a:prstGeom>
          <a:noFill/>
          <a:ln w="9525">
            <a:solidFill>
              <a:srgbClr val="2A3575"/>
            </a:solidFill>
            <a:prstDash val="solid"/>
          </a:ln>
        </p:spPr>
      </p:sp>
      <p:sp>
        <p:nvSpPr>
          <p:cNvPr id="3" name="Shape 1"/>
          <p:cNvSpPr/>
          <p:nvPr/>
        </p:nvSpPr>
        <p:spPr>
          <a:xfrm>
            <a:off x="1554480" y="0"/>
            <a:ext cx="0" cy="6858000"/>
          </a:xfrm>
          <a:prstGeom prst="line">
            <a:avLst/>
          </a:prstGeom>
          <a:noFill/>
          <a:ln w="9525">
            <a:solidFill>
              <a:srgbClr val="2A3575"/>
            </a:solidFill>
            <a:prstDash val="solid"/>
          </a:ln>
        </p:spPr>
      </p:sp>
      <p:sp>
        <p:nvSpPr>
          <p:cNvPr id="4" name="Shape 2"/>
          <p:cNvSpPr/>
          <p:nvPr/>
        </p:nvSpPr>
        <p:spPr>
          <a:xfrm>
            <a:off x="2331720" y="0"/>
            <a:ext cx="0" cy="6858000"/>
          </a:xfrm>
          <a:prstGeom prst="line">
            <a:avLst/>
          </a:prstGeom>
          <a:noFill/>
          <a:ln w="9525">
            <a:solidFill>
              <a:srgbClr val="2A3575"/>
            </a:solidFill>
            <a:prstDash val="solid"/>
          </a:ln>
        </p:spPr>
      </p:sp>
      <p:sp>
        <p:nvSpPr>
          <p:cNvPr id="5" name="Shape 3"/>
          <p:cNvSpPr/>
          <p:nvPr/>
        </p:nvSpPr>
        <p:spPr>
          <a:xfrm>
            <a:off x="3108960" y="0"/>
            <a:ext cx="0" cy="6858000"/>
          </a:xfrm>
          <a:prstGeom prst="line">
            <a:avLst/>
          </a:prstGeom>
          <a:noFill/>
          <a:ln w="9525">
            <a:solidFill>
              <a:srgbClr val="2A3575"/>
            </a:solidFill>
            <a:prstDash val="solid"/>
          </a:ln>
        </p:spPr>
      </p:sp>
      <p:sp>
        <p:nvSpPr>
          <p:cNvPr id="6" name="Shape 4"/>
          <p:cNvSpPr/>
          <p:nvPr/>
        </p:nvSpPr>
        <p:spPr>
          <a:xfrm>
            <a:off x="3886200" y="0"/>
            <a:ext cx="0" cy="6858000"/>
          </a:xfrm>
          <a:prstGeom prst="line">
            <a:avLst/>
          </a:prstGeom>
          <a:noFill/>
          <a:ln w="9525">
            <a:solidFill>
              <a:srgbClr val="2A3575"/>
            </a:solidFill>
            <a:prstDash val="solid"/>
          </a:ln>
        </p:spPr>
      </p:sp>
      <p:sp>
        <p:nvSpPr>
          <p:cNvPr id="7" name="Shape 5"/>
          <p:cNvSpPr/>
          <p:nvPr/>
        </p:nvSpPr>
        <p:spPr>
          <a:xfrm>
            <a:off x="4663440" y="0"/>
            <a:ext cx="0" cy="6858000"/>
          </a:xfrm>
          <a:prstGeom prst="line">
            <a:avLst/>
          </a:prstGeom>
          <a:noFill/>
          <a:ln w="9525">
            <a:solidFill>
              <a:srgbClr val="2A3575"/>
            </a:solidFill>
            <a:prstDash val="solid"/>
          </a:ln>
        </p:spPr>
      </p:sp>
      <p:sp>
        <p:nvSpPr>
          <p:cNvPr id="8" name="Shape 6"/>
          <p:cNvSpPr/>
          <p:nvPr/>
        </p:nvSpPr>
        <p:spPr>
          <a:xfrm>
            <a:off x="5440680" y="0"/>
            <a:ext cx="0" cy="6858000"/>
          </a:xfrm>
          <a:prstGeom prst="line">
            <a:avLst/>
          </a:prstGeom>
          <a:noFill/>
          <a:ln w="9525">
            <a:solidFill>
              <a:srgbClr val="2A3575"/>
            </a:solidFill>
            <a:prstDash val="solid"/>
          </a:ln>
        </p:spPr>
      </p:sp>
      <p:sp>
        <p:nvSpPr>
          <p:cNvPr id="9" name="Shape 7"/>
          <p:cNvSpPr/>
          <p:nvPr/>
        </p:nvSpPr>
        <p:spPr>
          <a:xfrm>
            <a:off x="6217920" y="0"/>
            <a:ext cx="0" cy="6858000"/>
          </a:xfrm>
          <a:prstGeom prst="line">
            <a:avLst/>
          </a:prstGeom>
          <a:noFill/>
          <a:ln w="9525">
            <a:solidFill>
              <a:srgbClr val="2A3575"/>
            </a:solidFill>
            <a:prstDash val="solid"/>
          </a:ln>
        </p:spPr>
      </p:sp>
      <p:sp>
        <p:nvSpPr>
          <p:cNvPr id="10" name="Shape 8"/>
          <p:cNvSpPr/>
          <p:nvPr/>
        </p:nvSpPr>
        <p:spPr>
          <a:xfrm>
            <a:off x="6995160" y="0"/>
            <a:ext cx="0" cy="6858000"/>
          </a:xfrm>
          <a:prstGeom prst="line">
            <a:avLst/>
          </a:prstGeom>
          <a:noFill/>
          <a:ln w="9525">
            <a:solidFill>
              <a:srgbClr val="2A3575"/>
            </a:solidFill>
            <a:prstDash val="solid"/>
          </a:ln>
        </p:spPr>
      </p:sp>
      <p:sp>
        <p:nvSpPr>
          <p:cNvPr id="11" name="Shape 9"/>
          <p:cNvSpPr/>
          <p:nvPr/>
        </p:nvSpPr>
        <p:spPr>
          <a:xfrm>
            <a:off x="7772400" y="0"/>
            <a:ext cx="0" cy="6858000"/>
          </a:xfrm>
          <a:prstGeom prst="line">
            <a:avLst/>
          </a:prstGeom>
          <a:noFill/>
          <a:ln w="9525">
            <a:solidFill>
              <a:srgbClr val="2A3575"/>
            </a:solidFill>
            <a:prstDash val="solid"/>
          </a:ln>
        </p:spPr>
      </p:sp>
      <p:sp>
        <p:nvSpPr>
          <p:cNvPr id="12" name="Shape 10"/>
          <p:cNvSpPr/>
          <p:nvPr/>
        </p:nvSpPr>
        <p:spPr>
          <a:xfrm>
            <a:off x="8549640" y="0"/>
            <a:ext cx="0" cy="6858000"/>
          </a:xfrm>
          <a:prstGeom prst="line">
            <a:avLst/>
          </a:prstGeom>
          <a:noFill/>
          <a:ln w="9525">
            <a:solidFill>
              <a:srgbClr val="2A3575"/>
            </a:solidFill>
            <a:prstDash val="solid"/>
          </a:ln>
        </p:spPr>
      </p:sp>
      <p:sp>
        <p:nvSpPr>
          <p:cNvPr id="13" name="Shape 11"/>
          <p:cNvSpPr/>
          <p:nvPr/>
        </p:nvSpPr>
        <p:spPr>
          <a:xfrm>
            <a:off x="9326880" y="0"/>
            <a:ext cx="0" cy="6858000"/>
          </a:xfrm>
          <a:prstGeom prst="line">
            <a:avLst/>
          </a:prstGeom>
          <a:noFill/>
          <a:ln w="9525">
            <a:solidFill>
              <a:srgbClr val="2A3575"/>
            </a:solidFill>
            <a:prstDash val="solid"/>
          </a:ln>
        </p:spPr>
      </p:sp>
      <p:sp>
        <p:nvSpPr>
          <p:cNvPr id="14" name="Shape 12"/>
          <p:cNvSpPr/>
          <p:nvPr/>
        </p:nvSpPr>
        <p:spPr>
          <a:xfrm>
            <a:off x="10104120" y="0"/>
            <a:ext cx="0" cy="6858000"/>
          </a:xfrm>
          <a:prstGeom prst="line">
            <a:avLst/>
          </a:prstGeom>
          <a:noFill/>
          <a:ln w="9525">
            <a:solidFill>
              <a:srgbClr val="2A3575"/>
            </a:solidFill>
            <a:prstDash val="solid"/>
          </a:ln>
        </p:spPr>
      </p:sp>
      <p:sp>
        <p:nvSpPr>
          <p:cNvPr id="15" name="Shape 13"/>
          <p:cNvSpPr/>
          <p:nvPr/>
        </p:nvSpPr>
        <p:spPr>
          <a:xfrm>
            <a:off x="10881360" y="0"/>
            <a:ext cx="0" cy="6858000"/>
          </a:xfrm>
          <a:prstGeom prst="line">
            <a:avLst/>
          </a:prstGeom>
          <a:noFill/>
          <a:ln w="9525">
            <a:solidFill>
              <a:srgbClr val="2A3575"/>
            </a:solidFill>
            <a:prstDash val="solid"/>
          </a:ln>
        </p:spPr>
      </p:sp>
      <p:sp>
        <p:nvSpPr>
          <p:cNvPr id="16" name="Shape 14"/>
          <p:cNvSpPr/>
          <p:nvPr/>
        </p:nvSpPr>
        <p:spPr>
          <a:xfrm>
            <a:off x="11658600" y="0"/>
            <a:ext cx="0" cy="6858000"/>
          </a:xfrm>
          <a:prstGeom prst="line">
            <a:avLst/>
          </a:prstGeom>
          <a:noFill/>
          <a:ln w="9525">
            <a:solidFill>
              <a:srgbClr val="2A3575"/>
            </a:solidFill>
            <a:prstDash val="solid"/>
          </a:ln>
        </p:spPr>
      </p:sp>
      <p:sp>
        <p:nvSpPr>
          <p:cNvPr id="17" name="Shape 15"/>
          <p:cNvSpPr/>
          <p:nvPr/>
        </p:nvSpPr>
        <p:spPr>
          <a:xfrm>
            <a:off x="0" y="777240"/>
            <a:ext cx="12188952" cy="0"/>
          </a:xfrm>
          <a:prstGeom prst="line">
            <a:avLst/>
          </a:prstGeom>
          <a:noFill/>
          <a:ln w="9525">
            <a:solidFill>
              <a:srgbClr val="2A3575"/>
            </a:solidFill>
            <a:prstDash val="solid"/>
          </a:ln>
        </p:spPr>
      </p:sp>
      <p:sp>
        <p:nvSpPr>
          <p:cNvPr id="18" name="Shape 16"/>
          <p:cNvSpPr/>
          <p:nvPr/>
        </p:nvSpPr>
        <p:spPr>
          <a:xfrm>
            <a:off x="0" y="1554480"/>
            <a:ext cx="12188952" cy="0"/>
          </a:xfrm>
          <a:prstGeom prst="line">
            <a:avLst/>
          </a:prstGeom>
          <a:noFill/>
          <a:ln w="9525">
            <a:solidFill>
              <a:srgbClr val="2A3575"/>
            </a:solidFill>
            <a:prstDash val="solid"/>
          </a:ln>
        </p:spPr>
      </p:sp>
      <p:sp>
        <p:nvSpPr>
          <p:cNvPr id="19" name="Shape 17"/>
          <p:cNvSpPr/>
          <p:nvPr/>
        </p:nvSpPr>
        <p:spPr>
          <a:xfrm>
            <a:off x="0" y="2331720"/>
            <a:ext cx="12188952" cy="0"/>
          </a:xfrm>
          <a:prstGeom prst="line">
            <a:avLst/>
          </a:prstGeom>
          <a:noFill/>
          <a:ln w="9525">
            <a:solidFill>
              <a:srgbClr val="2A3575"/>
            </a:solidFill>
            <a:prstDash val="solid"/>
          </a:ln>
        </p:spPr>
      </p:sp>
      <p:sp>
        <p:nvSpPr>
          <p:cNvPr id="20" name="Shape 18"/>
          <p:cNvSpPr/>
          <p:nvPr/>
        </p:nvSpPr>
        <p:spPr>
          <a:xfrm>
            <a:off x="0" y="3108960"/>
            <a:ext cx="12188952" cy="0"/>
          </a:xfrm>
          <a:prstGeom prst="line">
            <a:avLst/>
          </a:prstGeom>
          <a:noFill/>
          <a:ln w="9525">
            <a:solidFill>
              <a:srgbClr val="2A3575"/>
            </a:solidFill>
            <a:prstDash val="solid"/>
          </a:ln>
        </p:spPr>
      </p:sp>
      <p:sp>
        <p:nvSpPr>
          <p:cNvPr id="21" name="Shape 19"/>
          <p:cNvSpPr/>
          <p:nvPr/>
        </p:nvSpPr>
        <p:spPr>
          <a:xfrm>
            <a:off x="0" y="3886200"/>
            <a:ext cx="12188952" cy="0"/>
          </a:xfrm>
          <a:prstGeom prst="line">
            <a:avLst/>
          </a:prstGeom>
          <a:noFill/>
          <a:ln w="9525">
            <a:solidFill>
              <a:srgbClr val="2A3575"/>
            </a:solidFill>
            <a:prstDash val="solid"/>
          </a:ln>
        </p:spPr>
      </p:sp>
      <p:sp>
        <p:nvSpPr>
          <p:cNvPr id="22" name="Shape 20"/>
          <p:cNvSpPr/>
          <p:nvPr/>
        </p:nvSpPr>
        <p:spPr>
          <a:xfrm>
            <a:off x="0" y="4663440"/>
            <a:ext cx="12188952" cy="0"/>
          </a:xfrm>
          <a:prstGeom prst="line">
            <a:avLst/>
          </a:prstGeom>
          <a:noFill/>
          <a:ln w="9525">
            <a:solidFill>
              <a:srgbClr val="2A3575"/>
            </a:solidFill>
            <a:prstDash val="solid"/>
          </a:ln>
        </p:spPr>
      </p:sp>
      <p:sp>
        <p:nvSpPr>
          <p:cNvPr id="23" name="Shape 21"/>
          <p:cNvSpPr/>
          <p:nvPr/>
        </p:nvSpPr>
        <p:spPr>
          <a:xfrm>
            <a:off x="0" y="5440680"/>
            <a:ext cx="12188952" cy="0"/>
          </a:xfrm>
          <a:prstGeom prst="line">
            <a:avLst/>
          </a:prstGeom>
          <a:noFill/>
          <a:ln w="9525">
            <a:solidFill>
              <a:srgbClr val="2A3575"/>
            </a:solidFill>
            <a:prstDash val="solid"/>
          </a:ln>
        </p:spPr>
      </p:sp>
      <p:sp>
        <p:nvSpPr>
          <p:cNvPr id="24" name="Shape 22"/>
          <p:cNvSpPr/>
          <p:nvPr/>
        </p:nvSpPr>
        <p:spPr>
          <a:xfrm>
            <a:off x="0" y="6217920"/>
            <a:ext cx="12188952" cy="0"/>
          </a:xfrm>
          <a:prstGeom prst="line">
            <a:avLst/>
          </a:prstGeom>
          <a:noFill/>
          <a:ln w="9525">
            <a:solidFill>
              <a:srgbClr val="2A3575"/>
            </a:solidFill>
            <a:prstDash val="solid"/>
          </a:ln>
        </p:spPr>
      </p:sp>
      <p:sp>
        <p:nvSpPr>
          <p:cNvPr id="25" name="Shape 23"/>
          <p:cNvSpPr/>
          <p:nvPr/>
        </p:nvSpPr>
        <p:spPr>
          <a:xfrm>
            <a:off x="0" y="0"/>
            <a:ext cx="12188952" cy="6858000"/>
          </a:xfrm>
          <a:prstGeom prst="rect">
            <a:avLst/>
          </a:prstGeom>
          <a:solidFill>
            <a:srgbClr val="1E2761">
              <a:alpha val="72000"/>
            </a:srgbClr>
          </a:solidFill>
          <a:ln/>
        </p:spPr>
      </p:sp>
      <p:sp>
        <p:nvSpPr>
          <p:cNvPr id="26" name="Shape 24"/>
          <p:cNvSpPr/>
          <p:nvPr/>
        </p:nvSpPr>
        <p:spPr>
          <a:xfrm>
            <a:off x="5637276" y="1554480"/>
            <a:ext cx="914400" cy="914400"/>
          </a:xfrm>
          <a:prstGeom prst="ellipse">
            <a:avLst/>
          </a:prstGeom>
          <a:solidFill>
            <a:srgbClr val="CADCFC"/>
          </a:solidFill>
          <a:ln/>
        </p:spPr>
      </p:sp>
      <p:pic>
        <p:nvPicPr>
          <p:cNvPr id="27" name="Image 0" descr="/tmp/claude-0/-home-user-plugbits-plugins/8ace6739-6c8b-5dc3-ad00-7f049c58d65c/scratchpad/icons/FiCheckCircle_navy.png">    </p:cNvPr>
          <p:cNvPicPr>
            <a:picLocks noChangeAspect="1"/>
          </p:cNvPicPr>
          <p:nvPr/>
        </p:nvPicPr>
        <p:blipFill>
          <a:blip r:embed="rId1"/>
          <a:stretch>
            <a:fillRect/>
          </a:stretch>
        </p:blipFill>
        <p:spPr>
          <a:xfrm>
            <a:off x="5856732" y="1773936"/>
            <a:ext cx="475488" cy="475488"/>
          </a:xfrm>
          <a:prstGeom prst="rect">
            <a:avLst/>
          </a:prstGeom>
        </p:spPr>
      </p:pic>
      <p:sp>
        <p:nvSpPr>
          <p:cNvPr id="28" name="Text 25"/>
          <p:cNvSpPr/>
          <p:nvPr/>
        </p:nvSpPr>
        <p:spPr>
          <a:xfrm>
            <a:off x="731520" y="2834640"/>
            <a:ext cx="10725912" cy="1005840"/>
          </a:xfrm>
          <a:prstGeom prst="rect">
            <a:avLst/>
          </a:prstGeom>
          <a:noFill/>
          <a:ln/>
        </p:spPr>
        <p:txBody>
          <a:bodyPr wrap="square" lIns="0" tIns="0" rIns="0" bIns="0" rtlCol="0" anchor="ctr"/>
          <a:lstStyle/>
          <a:p>
            <a:pPr algn="ctr" indent="0" marL="0">
              <a:buNone/>
            </a:pPr>
            <a:r>
              <a:rPr lang="en-US" sz="3200" b="1" dirty="0">
                <a:solidFill>
                  <a:srgbClr val="FFFFFF"/>
                </a:solidFill>
                <a:latin typeface="Yu Gothic" pitchFamily="34" charset="0"/>
                <a:ea typeface="Yu Gothic" pitchFamily="34" charset="-122"/>
                <a:cs typeface="Yu Gothic" pitchFamily="34" charset="-120"/>
              </a:rPr>
              <a:t>まずは100枚、登録から始めましょう。</a:t>
            </a:r>
            <a:endParaRPr lang="en-US" sz="3200" dirty="0"/>
          </a:p>
        </p:txBody>
      </p:sp>
      <p:sp>
        <p:nvSpPr>
          <p:cNvPr id="29" name="Text 26"/>
          <p:cNvSpPr/>
          <p:nvPr/>
        </p:nvSpPr>
        <p:spPr>
          <a:xfrm>
            <a:off x="731520" y="3977640"/>
            <a:ext cx="10725912" cy="457200"/>
          </a:xfrm>
          <a:prstGeom prst="rect">
            <a:avLst/>
          </a:prstGeom>
          <a:noFill/>
          <a:ln/>
        </p:spPr>
        <p:txBody>
          <a:bodyPr wrap="square" lIns="0" tIns="0" rIns="0" bIns="0" rtlCol="0" anchor="ctr"/>
          <a:lstStyle/>
          <a:p>
            <a:pPr algn="ctr" indent="0" marL="0">
              <a:buNone/>
            </a:pPr>
            <a:r>
              <a:rPr lang="en-US" sz="1500" dirty="0">
                <a:solidFill>
                  <a:srgbClr val="CADCFC"/>
                </a:solidFill>
                <a:latin typeface="Yu Gothic" pitchFamily="34" charset="0"/>
                <a:ea typeface="Yu Gothic" pitchFamily="34" charset="-122"/>
                <a:cs typeface="Yu Gothic" pitchFamily="34" charset="-120"/>
              </a:rPr>
              <a:t>本日はありがとうございました</a:t>
            </a:r>
            <a:endParaRPr lang="en-US" sz="1500" dirty="0"/>
          </a:p>
        </p:txBody>
      </p:sp>
      <p:sp>
        <p:nvSpPr>
          <p:cNvPr id="30" name="Text 27"/>
          <p:cNvSpPr/>
          <p:nvPr/>
        </p:nvSpPr>
        <p:spPr>
          <a:xfrm>
            <a:off x="731520" y="4434840"/>
            <a:ext cx="10725912" cy="365760"/>
          </a:xfrm>
          <a:prstGeom prst="rect">
            <a:avLst/>
          </a:prstGeom>
          <a:noFill/>
          <a:ln/>
        </p:spPr>
        <p:txBody>
          <a:bodyPr wrap="square" lIns="0" tIns="0" rIns="0" bIns="0" rtlCol="0" anchor="ctr"/>
          <a:lstStyle/>
          <a:p>
            <a:pPr algn="ctr" indent="0" marL="0">
              <a:buNone/>
            </a:pPr>
            <a:r>
              <a:rPr lang="en-US" sz="1300" b="1" dirty="0">
                <a:solidFill>
                  <a:srgbClr val="CADCFC"/>
                </a:solidFill>
                <a:latin typeface="Yu Gothic" pitchFamily="34" charset="0"/>
                <a:ea typeface="Yu Gothic" pitchFamily="34" charset="-122"/>
                <a:cs typeface="Yu Gothic" pitchFamily="34" charset="-120"/>
              </a:rPr>
              <a:t>PlugBits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2026-07-19T22:52:35Z</dcterms:created>
  <dcterms:modified xsi:type="dcterms:W3CDTF">2026-07-19T22:52:35Z</dcterms:modified>
</cp:coreProperties>
</file>